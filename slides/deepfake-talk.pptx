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開演前から表示。第一声は自己紹介から（Flegrowth・葉 明哲）。</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名乗りと所属（0.5分）→ 現場の話（2分）:「私たちは、皆さんのお金が動く現場に、3つの持ち場で立っています。1つ目は入口。FXなどの口座開設は、スマホだけで本人確認が終わる『電子身分証明（eKYC）』が当たり前になりましたが、最近、その顔認証をディープフェイクの顔でくぐり抜けようとするケースが増えています。2つ目は扉。盗んだパスワードで口座に入り込む不正ログインを、24時間監視して止めています。3つ目はお金の通り道。詐欺のお金は最後、必ずどこかへ移動します。その不自然な動きを見張るのが、マネーロンダリング監視です。——今日お話しするのは、この現場から見えている景色です」。※いずれも一般的な業務説明の範囲（eKYC突破増はベンダー公開レポート、口座乗っ取りは金融庁公表、AMLは法定義務）。自社の具体事案に踏み込む場合のみコンプラ確認。</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は怖い話もしますが、このMTGの目的は一つ。近い未来に訪れる『AI詐欺』から身を守る方法を、持って帰っていただくことです」。※「怖がらせるためではなく」の保証はこの1回に留める。繰り返すと緊張感ごと抜け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この区間の「そうなんだ」：わざと嘘くさい文面は『疑わない人だけを選び出す』フィルタだった——そしてAIが、そのフィルタを不要にする。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改まった声で「突然ですが——おめでとうございます！本日このセミナーにご参加の皆さま全員に、もれなく1億円を差し上げます！」。笑いと戸惑いを数秒待ってから「……驚かせてすみません。もちろん、本当ではありません。ただ、いま皆さん、一瞬で『そんなはずはない』と思いましたよね。今日はまず、その話から始めます。実はいまの嘘、プロの詐欺師が何十年も使い続けてきた、由緒正しい手口なんです」。※ネタばらしまで数秒で1セット。打ち消しは口頭で即座に、はっきり言い切る（真に受ける人を出さない）。聴衆の反応を採点する言い方（「全員見抜けましたね」等）はしない。 ※画像メモ（生成AI用プロンプト案）: 紙吹雪と金色のくす玉が舞う祝賀イメージ。文字なし・人物なし・明るい背景。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「——この中のどれかを、受け取ったことのある方？」挙手を待つ。「こんなのには、皆さん引っかかりませんよね？ 応募していない懸賞に当選する。身に覚えのない未納料金。会ったこともない資産家からの遺産。さっきの1億円と同じで、誰が読んでも嘘だと分かります」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で不思議に思いませんか。騙すのが目的なら、もっと上手な嘘を書けばいい。なぜプロの詐欺師が、誰が見てもバレる嘘を、何十年も送り続けたのか。——実は、ゾッとするほど合理的な理由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詐欺で一番コストがかかるのは、メールを送ることではなく、その後の『人間によるやり取り』です。返信してきた相手とは、人間の詐欺師が何通も、何日もやり取りしなければいけない。だから途中で我に返る人に手間をかけたら赤字になる。あの嘘くさい文面は、“それでも信じてしまう、いちばん疑わない人”だけが返信してくるように作られた選別装置なんです。賢い人は最初の一通で外れてくれる——それが狙いでした」。※手口の再現方法ではなく、公開研究にある仕組みの説明に留める。</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はこの商売、200年前からあります。手口を一言でいうと——『囚われたお金持ちを助けてくれたら、財産を分けます』。19世紀、欧米の資産家のもとに、スペインから一通の手紙が届きます。『私は、無実の罪でスペインの牢獄に囚われた、さる高貴なお方の代理人です。あの方は莫大な財産を隠していますが、正体を明かせば命が危ない。看守に渡すお金を立て替えていただければ、釈放の暁には財産の3分の1を差し上げます』——のちに『スペインの囚人』と呼ばれた、有名な手紙詐欺です。お金を送ると、どうなるか。囚人は、出てきません。『手続きに新たな問題が起きた』と、追加の請求が届くんです。何度でも。1898年のニューヨーク・タイムズに『蘇った古い詐欺』という記事が残っています。そしてこの手紙には、決まってこう書いてありました。『このことは、くれぐれも誰にも言わないでください』——覚えておいてください、あとでまた出てきます」。続けて「2000年代、詐欺の舞台は手紙からメールに移ります。さっきの3つは、その直系の子孫です。道具は変わっても、構造は200年間ずっと同じ」。※「誰にも言うな」は結論の即切りの合図で回収する伏線。 ※画像メモ（生成AI用プロンプト案）: 羊皮紙の古い手紙と封蝋、羽根ペン。セピア調の19世紀ヨーロッパ風イラスト。文字は判読不能なかすれ表現・人物なし。</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「つまり、さっき『そんなはずはない』と感じた皆さんは、この商売の仕組みの上では、最初から相手にされていません。『自分は引っかからない』——それは正しかった。今までは」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ゆっくり、順を追って。「ここから、時代が変わります。大人数に同じ嘘をばらまくのは安い。少人数に専用の嘘を作るのは高い——この経済学が、詐欺の形を200年決めてきました。ところがAIは、その高かった部分——相手を調べる、本物らしい文章や声をつくる、うまく応対する——を丸ごと肩代わりします。一人あたりの手間がほぼゼロになると、“オーダーメイドの詐欺”を何万人にも同時に仕掛けられる。ばらまきの安さで、狙い撃ちの精度が手に入るんです。公開情報・資産・肩書き・家族構成が外から見える人ほど、狙う価値が出ます。見え透いた嘘は、もう来ません。あなたに合わせた、賢い嘘が来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語として語る。「香港の、ある会社の経理担当者の話です。本社の財務責任者から『極秘の買収案件だ。誰にも言わず送金の準備をしてほしい』というメールが来て、彼は疑った。当然です、プロですから。ところが確認のために呼ばれたビデオ会議に入ると、画面の向こうにはその財務責任者がいて、よく知る同僚たちもいた。顔も声もいつも通り。彼は15回に分けて送金しました。——会議にいた人間は、本人以外、全員ニセモノでした。被害は約38億円」 一拍おく。「騙されたのは、うっかり者ではありません。一度疑ったプロです」。※「誰にも言わず」がスペインの囚人と同じ決まり文句である点は、触れると気づく人だけ気づく置き方でよい。「何が起きたか」だけを語り、作り方には触れない。 ※画像メモ（生成AI用プロンプト案）: ノートPCのビデオ会議画面。参加者6人は全員暗いシルエット。不穏な雰囲気。実在の顔・文字なし。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ィープフェイクは、映像の顔をその場で別人に変えられる段階に入っています。声も、ほんの少しの音声——他人が投稿した動画、会議の録画、留守番電話——から本人そっくりの声が作れる。自分が用心して声を出さなくても、材料は知らないうちに外に残っています」 ※画像メモ（生成AI用プロンプト案）: スマートフォンの動画から音声波形が流れ出て複製されるフラットイラスト。文字なし・特定人物なし。</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理します。疑わない人だけを選んでいた詐欺が、疑う人も突破する詐欺へ——手紙から200年続いた“ばらまき”の時代が、終わろうとしています。ここまでが、進化の理論です。……では、いまの日本は、この歴史のどこにいるでしょうか」→第2部へ。 ／ 第2部の「そうなんだ」：日本のAI詐欺はまだ「有名人のニセ動画」どまりで、一般人を狙う圧倒的な主役は「番号」。しかしその差は“材料の差”にすぎない——次は、番号偽装にAIが混ざってくる。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2部の冒頭は口頭で（スライドなし・1.5分）：「舞台はメールから、電話に移ります。皆さんは普段、電話の相手が本人かどうか、どこで判断していますか？」——声・話し方・内容・雰囲気・番号など、出た答えを板書し、「この紙、最後にもう一度使います」。そのあとこのスライドへ。「第1部の話を聞くと、日本でも『AIの声にだまされた』というニュースが毎日出ていそうですよね。——皆さん、聞いたことはありますか？ ……あまり聞かないですよね」</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は、日本にもAI詐欺はあります。いま一番多いのは、有名人のニセ動画です。実業家や政治家の顔と声をAIで作って投資に誘う偽広告——このSNS型投資詐欺の被害は、2025年に1,200億円を超えました。続くのは、今年1月に摘発された海外拠点のグループ。AIが書いた台本と、警察官のニセ映像で、日本の8人から約1,900万円——数えるほどで、このくらいです。皆さんのご家族の声をまねた詐欺が日本で確認された、という報道はまだありません。統計にも“AI詐欺”という欄はまだない。では、一般の私たちを狙う詐欺で、いま圧倒的に多いのは何か」。※摘発例は「予測」で“もう始まっている”として回収。</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着信画面「○○警察署」のイメージを大きく見せながら。「答えは、警察の偽番号です。犯行電話でいちばん多いのは、『＋』で始まる国際電話です。番号の末尾を『0110』に見せかけて、警察署を装います。今日は、これだけ覚えて帰っていただいても十分です——警察署の番号表示は、本人確認にな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グラフを指しながら。「7割、という数字を目で見てください。特殊詐欺の被害額 約1,423億円のうち、約1,005億円——これだけがニセ警察詐欺です。そしてもう一つ。ニセ警察の犯行電話は、4本に3本が『＋』から始まる国際電話です。だから“鳴る前に塞ぐ”が効きます——これは結論でお話しし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警察”なんて、調べればすぐバレる大胆な嘘です。でも皆さんはもう、この理屈をご存じですね。（中略）1億円や当選メールと同じ——疑う人を先にふるい落とす選別装置なんです」。第1部の回収ポイン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んだ、日本はまだ有名人の話か』と安心しかけたところで——海外の話です。アメリカでは、FBIやFTCといった当局が『生成AIを使った詐欺』への警告を公式に出しています。しかも標的は有名人ではありません。家族の声をまねた音声クローン詐欺——ごく一般の家庭を狙う相談が、実際に増えているんです」。※「急増」等の倍率は言わず、当局が公式警告を出している事実で語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拍おいて、ゆっくり。「海外で増えているのは、家族の声をまねた音声クローン詐欺。標的は有名人ではありません。皆さんと同じ、ごく普通の家庭です」。ここが第2部後半の転調点。次の「なぜ日本は有名人ばかりなのか（材料の差）」への引きになる。</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ぜ日本は有名人ばかりで、海外は一般の家庭まで進んでいるのか。差は、材料です。有名人の顔と声は、ネット上に無限に転がっている。私たち一般人のデータはまだ少ない——狙われていないのではなく、後回しになっているだけです。でもAIは、数十秒の音声があれば本人そっくりを作れるようになりました。この時間差は、必ず埋まり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ゆっくり。「そして埋まるときも、番号偽装が消えてAIに置き換わるわけではありません。いまある型に、AIが“混ざって”きます。さっきの1月の摘発——AIの台本と警察官のニセ映像——は、もうその始まりです。『0110』の番号表示で信じさせて、本人そっくりの声でとどめを刺す。番号のカードとAIのカードが、同時に切られる。そうなったとき、皆さんは何で見分けますか？ 言葉だけでは信じにくいと思いますので、ここからは実物をお見せします」→実演へ。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この区間の「そうなんだ」：話し方も雰囲気も、相手がこちらに合わせて変えてくる。そして本物の脅威は「断らない声」。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クローン音声を会場スピーカーで再生。※素材は講師本人の声・本人同意で事前作成、生成物には「AI生成」を明示して管理。バックアップ音源必須。第三者の顔・声は使わない。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マホを会場スピーカーへつなぎ、最新AIと生対話。聴衆から予想外のひと言を1つもらう（詐欺の台詞は言わせない）。「もちろん、いま話したのは安全なAIで、この“合わせる力”自体は良い技術です。ただ、同じ力が悪用されれば——昔は詐欺師が話術で一人ずつやっていたことを、同時に何人相手でもこなせてしまいま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りすまし依頼→拒否のデモ。「いい断り方ですよね。でも安心はできません。同じ技術は世界に無数にあり、安全装置のないものも出回ります」。※通信不良に備え録音・録画のバックアップ。ライブが押したら拒否デモは録画30秒版に切り替え（打ち切り条件を事前に決める）。</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「——最初の問いに、答えを出します」→結論へ。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板書した紙を再び見せながら。「最初に集めました——声、話し方、内容、雰囲気、番号。今日、全部裏切られましたね。だったら、手がかりで見分けること自体をやめればいい」</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一度切って、自分で調べてかけ直す”は、番号が本物でも、声が本物でも、相手がAIでも人間でも——効きます」。※射程の明示：この主手順が守るのは「電話・ビデオ通話でのなりすまし」。投資話・偽サイト・長期の関係構築型詐欺は別の備えが要る、と一言添える。「本物の警察なら、確認のためにいったん切っても、不利益はありません」。ここで第1部の「誰にも言うな」の伏線を回収。</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スライドの5項目を一言ずつ指差しながら。「今日の話を、ひと息で巻き戻します。（中略）——全部、一本の線でつながっています」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でも思い出してください。あのとき会場に流れた『そんなはずはない』という空気。あれが“ばらまきの嘘”への完璧な勝ち方です。これから来るのは、笑い飛ばせない、あなた専用の嘘。だからこそ、笑う代わりに——一度切って、自分で調べて、かけ直す」 ※画像メモ（生成AI用プロンプト案）: 三世代の家族が食卓で笑いながら話す温かいフラットイラスト。特定人物に見えない簡略な顔・文字なし。</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質疑応答用に最後に表示したままにする。数値はスライド化の直前に最新の一次資料で再確認。</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pa.go.jp/bureau/criminal/souni/tokusyusagi/sagi_keihatsu2025.pdf" TargetMode="External"/><Relationship Id="rId3" Type="http://schemas.openxmlformats.org/officeDocument/2006/relationships/hyperlink" Target="https://www.microsoft.com/en-us/research/publication/why-do-nigerian-scammers-say-they-are-from-nigeria/" TargetMode="External"/><Relationship Id="rId4" Type="http://schemas.openxmlformats.org/officeDocument/2006/relationships/hyperlink" Target="https://www.nytimes.com/1898/03/20/archives/an-old-swindle-revived-the-spanish-prisoner-and-buried-treasure.html" TargetMode="External"/><Relationship Id="rId5" Type="http://schemas.openxmlformats.org/officeDocument/2006/relationships/hyperlink" Target="https://www.ic3.gov/PSA/2024/PSA241203" TargetMode="External"/><Relationship Id="rId6" Type="http://schemas.openxmlformats.org/officeDocument/2006/relationships/hyperlink" Target="https://edition.cnn.com/2024/02/04/asia/deepfake-cfo-scam-hong-kong-intl-hnk/index.html" TargetMode="External"/><Relationship Id="rId7" Type="http://schemas.openxmlformats.org/officeDocument/2006/relationships/hyperlink" Target="https://news.infoseek.co.jp/article/mainichi_20260129k0000m040239000c/" TargetMode="External"/><Relationship Id="rId8" Type="http://schemas.openxmlformats.org/officeDocument/2006/relationships/hyperlink" Target="https://www.kab.co.jp/news/article/16558364" TargetMode="External"/><Relationship Id="rId9" Type="http://schemas.openxmlformats.org/officeDocument/2006/relationships/hyperlink" Target="https://www.npa.go.jp/bureau/safetylife/sos47/new-topics/241218/02.html" TargetMode="External"/><Relationship Id="rId10" Type="http://schemas.openxmlformats.org/officeDocument/2006/relationships/hyperlink" Target="https://www.npa.go.jp/bureau/safetylife/sos47/new-topics/241218/06.html" TargetMode="External"/><Relationship Id="rId11" Type="http://schemas.openxmlformats.org/officeDocument/2006/relationships/hyperlink" Target="https://consumer.ftc.gov/consumer-alerts/2023/03/scammers-use-ai-enhance-their-family-emergency-schemes" TargetMode="External"/><Relationship Id="rId1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2103120"/>
            <a:ext cx="10820095" cy="1645920"/>
          </a:xfrm>
          <a:prstGeom prst="rect">
            <a:avLst/>
          </a:prstGeom>
          <a:noFill/>
        </p:spPr>
        <p:txBody>
          <a:bodyPr wrap="square" anchor="ctr">
            <a:noAutofit/>
          </a:bodyPr>
          <a:lstStyle/>
          <a:p>
            <a:pPr algn="ctr"/>
            <a:r>
              <a:rPr sz="4800" b="1">
                <a:solidFill>
                  <a:srgbClr val="20242C"/>
                </a:solidFill>
                <a:latin typeface="Yu Mincho"/>
                <a:ea typeface="Yu Mincho"/>
                <a:cs typeface="Yu Mincho"/>
              </a:rPr>
              <a:t>巧妙化するAI詐欺から身を守る</a:t>
            </a:r>
          </a:p>
        </p:txBody>
      </p:sp>
      <p:sp>
        <p:nvSpPr>
          <p:cNvPr id="3" name="TextBox 2"/>
          <p:cNvSpPr txBox="1"/>
          <p:nvPr/>
        </p:nvSpPr>
        <p:spPr>
          <a:xfrm>
            <a:off x="685800" y="3886200"/>
            <a:ext cx="10820095" cy="777240"/>
          </a:xfrm>
          <a:prstGeom prst="rect">
            <a:avLst/>
          </a:prstGeom>
          <a:noFill/>
        </p:spPr>
        <p:txBody>
          <a:bodyPr wrap="square" anchor="ctr">
            <a:noAutofit/>
          </a:bodyPr>
          <a:lstStyle/>
          <a:p>
            <a:pPr algn="ctr"/>
            <a:r>
              <a:rPr sz="2800" b="0">
                <a:solidFill>
                  <a:srgbClr val="B9791F"/>
                </a:solidFill>
                <a:latin typeface="Yu Gothic"/>
                <a:ea typeface="Yu Gothic"/>
                <a:cs typeface="Yu Gothic"/>
              </a:rPr>
              <a:t>― フィンテック企業が解説する自己防衛術 ―</a:t>
            </a:r>
          </a:p>
        </p:txBody>
      </p:sp>
      <p:sp>
        <p:nvSpPr>
          <p:cNvPr id="4" name="TextBox 3"/>
          <p:cNvSpPr txBox="1"/>
          <p:nvPr/>
        </p:nvSpPr>
        <p:spPr>
          <a:xfrm>
            <a:off x="685800" y="5577840"/>
            <a:ext cx="10820095" cy="502920"/>
          </a:xfrm>
          <a:prstGeom prst="rect">
            <a:avLst/>
          </a:prstGeom>
          <a:noFill/>
        </p:spPr>
        <p:txBody>
          <a:bodyPr wrap="square" anchor="ctr">
            <a:noAutofit/>
          </a:bodyPr>
          <a:lstStyle/>
          <a:p>
            <a:pPr algn="ctr"/>
            <a:r>
              <a:rPr sz="1600" b="0">
                <a:solidFill>
                  <a:srgbClr val="5C6472"/>
                </a:solidFill>
                <a:latin typeface="Yu Gothic"/>
                <a:ea typeface="Yu Gothic"/>
                <a:cs typeface="Yu Gothic"/>
              </a:rPr>
              <a:t>Flegrowth ／ 葉 明哲 ／ 2026年8月19日</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私たちは「お金が動く現場」にいます</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・入口：スマホで完結する本人確認（eKYC）——その顔認証を、ディープフェイクの顔で突破しようとするケースが増えている</a:t>
            </a:r>
          </a:p>
          <a:p>
            <a:pPr marL="355600" indent="-355600">
              <a:lnSpc>
                <a:spcPct val="135000"/>
              </a:lnSpc>
              <a:spcAft>
                <a:spcPts val="979"/>
              </a:spcAft>
            </a:pPr>
            <a:r>
              <a:rPr sz="2800" b="0">
                <a:solidFill>
                  <a:srgbClr val="20242C"/>
                </a:solidFill>
                <a:latin typeface="Yu Gothic"/>
                <a:ea typeface="Yu Gothic"/>
                <a:cs typeface="Yu Gothic"/>
              </a:rPr>
              <a:t>・扉：口座への不正ログイン——盗んだパスワードで入り込む攻撃を、24時間監視して止める</a:t>
            </a:r>
          </a:p>
          <a:p>
            <a:pPr marL="355600" indent="-355600">
              <a:lnSpc>
                <a:spcPct val="135000"/>
              </a:lnSpc>
            </a:pPr>
            <a:r>
              <a:rPr sz="2800" b="0">
                <a:solidFill>
                  <a:srgbClr val="20242C"/>
                </a:solidFill>
                <a:latin typeface="Yu Gothic"/>
                <a:ea typeface="Yu Gothic"/>
                <a:cs typeface="Yu Gothic"/>
              </a:rPr>
              <a:t>・お金の通り道：マネーロンダリング監視——詐欺のお金は最後、必ず“移動”する。その不自然な動きを見張る</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0 自己紹介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3657599"/>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このMTGの目的</a:t>
            </a:r>
          </a:p>
        </p:txBody>
      </p:sp>
      <p:sp>
        <p:nvSpPr>
          <p:cNvPr id="3" name="TextBox 2"/>
          <p:cNvSpPr txBox="1"/>
          <p:nvPr/>
        </p:nvSpPr>
        <p:spPr>
          <a:xfrm>
            <a:off x="685800" y="4983479"/>
            <a:ext cx="10820095" cy="1005840"/>
          </a:xfrm>
          <a:prstGeom prst="rect">
            <a:avLst/>
          </a:prstGeom>
          <a:noFill/>
        </p:spPr>
        <p:txBody>
          <a:bodyPr wrap="square" anchor="ctr">
            <a:noAutofit/>
          </a:bodyPr>
          <a:lstStyle/>
          <a:p>
            <a:pPr algn="ctr">
              <a:lnSpc>
                <a:spcPct val="130000"/>
              </a:lnSpc>
            </a:pPr>
            <a:r>
              <a:rPr sz="2200" b="0">
                <a:solidFill>
                  <a:srgbClr val="5C6472"/>
                </a:solidFill>
                <a:latin typeface="Yu Gothic"/>
                <a:ea typeface="Yu Gothic"/>
                <a:cs typeface="Yu Gothic"/>
              </a:rPr>
              <a:t>近い未来に訪れる「AI詐欺」から身を守る方法を、持って帰っていただくこと</a:t>
            </a:r>
          </a:p>
        </p:txBody>
      </p:sp>
      <p:sp>
        <p:nvSpPr>
          <p:cNvPr id="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3</a:t>
            </a:r>
          </a:p>
        </p:txBody>
      </p:sp>
      <p:sp>
        <p:nvSpPr>
          <p:cNvPr id="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0 自己紹介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4572000" cy="548640"/>
          </a:xfrm>
          <a:prstGeom prst="rect">
            <a:avLst/>
          </a:prstGeom>
          <a:noFill/>
        </p:spPr>
        <p:txBody>
          <a:bodyPr wrap="square" anchor="ctr">
            <a:noAutofit/>
          </a:bodyPr>
          <a:lstStyle/>
          <a:p>
            <a:pPr algn="l"/>
            <a:r>
              <a:rPr sz="2000" b="1">
                <a:solidFill>
                  <a:srgbClr val="B9791F"/>
                </a:solidFill>
                <a:latin typeface="Yu Gothic"/>
                <a:ea typeface="Yu Gothic"/>
                <a:cs typeface="Yu Gothic"/>
              </a:rPr>
              <a:t>第1部</a:t>
            </a:r>
          </a:p>
        </p:txBody>
      </p:sp>
      <p:sp>
        <p:nvSpPr>
          <p:cNvPr id="4" name="TextBox 3"/>
          <p:cNvSpPr txBox="1"/>
          <p:nvPr/>
        </p:nvSpPr>
        <p:spPr>
          <a:xfrm>
            <a:off x="685800" y="2240280"/>
            <a:ext cx="10820095" cy="1554480"/>
          </a:xfrm>
          <a:prstGeom prst="rect">
            <a:avLst/>
          </a:prstGeom>
          <a:noFill/>
        </p:spPr>
        <p:txBody>
          <a:bodyPr wrap="square" anchor="ctr">
            <a:noAutofit/>
          </a:bodyPr>
          <a:lstStyle/>
          <a:p>
            <a:pPr algn="ctr"/>
            <a:r>
              <a:rPr sz="5400" b="1">
                <a:solidFill>
                  <a:srgbClr val="FFFFFF"/>
                </a:solidFill>
                <a:latin typeface="Yu Gothic"/>
                <a:ea typeface="Yu Gothic"/>
                <a:cs typeface="Yu Gothic"/>
              </a:rPr>
              <a:t>電子詐欺の進化史</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9AA3B2"/>
                </a:solidFill>
                <a:latin typeface="Yu Gothic"/>
                <a:ea typeface="Yu Gothic"/>
                <a:cs typeface="Yu Gothic"/>
              </a:rPr>
              <a:t>4</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9AA3B2"/>
                </a:solidFill>
                <a:latin typeface="Yu Gothic"/>
                <a:ea typeface="Yu Gothic"/>
                <a:cs typeface="Yu Gothic"/>
              </a:rPr>
              <a:t>1 第1部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3364991"/>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祝・ご当選</a:t>
            </a:r>
          </a:p>
          <a:p>
            <a:pPr algn="ctr">
              <a:lnSpc>
                <a:spcPct val="128000"/>
              </a:lnSpc>
            </a:pPr>
            <a:r>
              <a:rPr sz="5400" b="1">
                <a:solidFill>
                  <a:srgbClr val="20242C"/>
                </a:solidFill>
                <a:latin typeface="Yu Mincho"/>
                <a:ea typeface="Yu Mincho"/>
                <a:cs typeface="Yu Mincho"/>
              </a:rPr>
              <a:t>皆さま全員に 1億円</a:t>
            </a:r>
          </a:p>
        </p:txBody>
      </p:sp>
      <p:sp>
        <p:nvSpPr>
          <p:cNvPr id="3" name="slot:image"/>
          <p:cNvSpPr/>
          <p:nvPr/>
        </p:nvSpPr>
        <p:spPr>
          <a:xfrm>
            <a:off x="685800" y="4754879"/>
            <a:ext cx="10820095" cy="1234440"/>
          </a:xfrm>
          <a:prstGeom prst="roundRect">
            <a:avLst>
              <a:gd name="adj" fmla="val 10370"/>
            </a:avLst>
          </a:prstGeom>
          <a:solidFill>
            <a:srgbClr val="F1F2F5"/>
          </a:solidFill>
          <a:ln w="9525">
            <a:solidFill>
              <a:srgbClr val="5C647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noAutofit/>
          </a:bodyPr>
          <a:lstStyle/>
          <a:p>
            <a:pPr algn="ctr">
              <a:lnSpc>
                <a:spcPct val="130000"/>
              </a:lnSpc>
            </a:pPr>
            <a:r>
              <a:rPr sz="1500" b="1">
                <a:solidFill>
                  <a:srgbClr val="5C6472"/>
                </a:solidFill>
                <a:latin typeface="Yu Gothic"/>
                <a:ea typeface="Yu Gothic"/>
                <a:cs typeface="Yu Gothic"/>
              </a:rPr>
              <a:t>イメージ画像スペース</a:t>
            </a:r>
          </a:p>
          <a:p>
            <a:pPr algn="ctr">
              <a:lnSpc>
                <a:spcPct val="135000"/>
              </a:lnSpc>
            </a:pPr>
            <a:r>
              <a:rPr sz="1200" b="0">
                <a:solidFill>
                  <a:srgbClr val="5C6472"/>
                </a:solidFill>
                <a:latin typeface="Yu Gothic"/>
                <a:ea typeface="Yu Gothic"/>
                <a:cs typeface="Yu Gothic"/>
              </a:rPr>
              <a:t>お祝いイメージ（紙吹雪・くす玉・金色）</a:t>
            </a:r>
          </a:p>
        </p:txBody>
      </p:sp>
      <p:sp>
        <p:nvSpPr>
          <p:cNvPr id="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5</a:t>
            </a:r>
          </a:p>
        </p:txBody>
      </p:sp>
      <p:sp>
        <p:nvSpPr>
          <p:cNvPr id="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3600" b="1">
                <a:solidFill>
                  <a:srgbClr val="B9791F"/>
                </a:solidFill>
                <a:latin typeface="Yu Gothic"/>
                <a:ea typeface="Yu Gothic"/>
                <a:cs typeface="Yu Gothic"/>
              </a:rPr>
              <a:t>昔よくあった詐欺メール——さっきの1億円と同じ形</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・「おめでとうございます！あなたのメールアドレスが 1等3億円 に当選しました」</a:t>
            </a:r>
          </a:p>
          <a:p>
            <a:pPr marL="355600" indent="-355600">
              <a:lnSpc>
                <a:spcPct val="135000"/>
              </a:lnSpc>
              <a:spcAft>
                <a:spcPts val="979"/>
              </a:spcAft>
            </a:pPr>
            <a:r>
              <a:rPr sz="2800" b="0">
                <a:solidFill>
                  <a:srgbClr val="20242C"/>
                </a:solidFill>
                <a:latin typeface="Yu Gothic"/>
                <a:ea typeface="Yu Gothic"/>
                <a:cs typeface="Yu Gothic"/>
              </a:rPr>
              <a:t>・「有料サイトの 未納料金 が発生しています。本日中にご連絡がない場合、法的手続きに移行します」</a:t>
            </a:r>
          </a:p>
          <a:p>
            <a:pPr marL="355600" indent="-355600">
              <a:lnSpc>
                <a:spcPct val="135000"/>
              </a:lnSpc>
            </a:pPr>
            <a:r>
              <a:rPr sz="2800" b="0">
                <a:solidFill>
                  <a:srgbClr val="20242C"/>
                </a:solidFill>
                <a:latin typeface="Yu Gothic"/>
                <a:ea typeface="Yu Gothic"/>
                <a:cs typeface="Yu Gothic"/>
              </a:rPr>
              <a:t>・「余命わずかな資産家です。全財産をあなたにお譲りしたい のでご連絡ください」</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6</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4800600"/>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なぜプロの詐欺師は、</a:t>
            </a:r>
          </a:p>
          <a:p>
            <a:pPr algn="ctr">
              <a:lnSpc>
                <a:spcPct val="128000"/>
              </a:lnSpc>
            </a:pPr>
            <a:r>
              <a:rPr sz="5400" b="1">
                <a:solidFill>
                  <a:srgbClr val="20242C"/>
                </a:solidFill>
                <a:latin typeface="Yu Mincho"/>
                <a:ea typeface="Yu Mincho"/>
                <a:cs typeface="Yu Mincho"/>
              </a:rPr>
              <a:t>誰が見てもバレる嘘を</a:t>
            </a:r>
          </a:p>
          <a:p>
            <a:pPr algn="ctr">
              <a:lnSpc>
                <a:spcPct val="128000"/>
              </a:lnSpc>
            </a:pPr>
            <a:r>
              <a:rPr sz="5400" b="1">
                <a:solidFill>
                  <a:srgbClr val="20242C"/>
                </a:solidFill>
                <a:latin typeface="Yu Mincho"/>
                <a:ea typeface="Yu Mincho"/>
                <a:cs typeface="Yu Mincho"/>
              </a:rPr>
              <a:t>何十年も送り続けたのか？</a:t>
            </a:r>
          </a:p>
        </p:txBody>
      </p:sp>
      <p:sp>
        <p:nvSpPr>
          <p:cNvPr id="3"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7</a:t>
            </a:r>
          </a:p>
        </p:txBody>
      </p:sp>
      <p:sp>
        <p:nvSpPr>
          <p:cNvPr id="4"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バレバレの嘘は「選別装置」</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出典：Microsoft Research（C. Herley, 2012）</a:t>
            </a:r>
          </a:p>
        </p:txBody>
      </p:sp>
      <p:sp>
        <p:nvSpPr>
          <p:cNvPr id="5" name="TextBox 4"/>
          <p:cNvSpPr txBox="1"/>
          <p:nvPr/>
        </p:nvSpPr>
        <p:spPr>
          <a:xfrm>
            <a:off x="685800" y="1645920"/>
            <a:ext cx="10820095" cy="413308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・メールを送るのはタダ同然。高くつくのは、返信してきた相手と“人間の詐欺師”が何日もやり取りする部分</a:t>
            </a:r>
          </a:p>
          <a:p>
            <a:pPr marL="355600" indent="-355600">
              <a:lnSpc>
                <a:spcPct val="135000"/>
              </a:lnSpc>
              <a:spcAft>
                <a:spcPts val="979"/>
              </a:spcAft>
            </a:pPr>
            <a:r>
              <a:rPr sz="2800" b="0">
                <a:solidFill>
                  <a:srgbClr val="20242C"/>
                </a:solidFill>
                <a:latin typeface="Yu Gothic"/>
                <a:ea typeface="Yu Gothic"/>
                <a:cs typeface="Yu Gothic"/>
              </a:rPr>
              <a:t>・途中で我に返る人に手間をかけると赤字——疑う人には、最初の一通で降りてもらいたい</a:t>
            </a:r>
          </a:p>
          <a:p>
            <a:pPr marL="355600" indent="-355600">
              <a:lnSpc>
                <a:spcPct val="135000"/>
              </a:lnSpc>
            </a:pPr>
            <a:r>
              <a:rPr sz="2800" b="0">
                <a:solidFill>
                  <a:srgbClr val="20242C"/>
                </a:solidFill>
                <a:latin typeface="Yu Gothic"/>
                <a:ea typeface="Yu Gothic"/>
                <a:cs typeface="Yu Gothic"/>
              </a:rPr>
              <a:t>・だから、わざと嘘くさく書く——“それでも信じる人”だけが返信してくる選別装置</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8</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3600" b="1">
                <a:solidFill>
                  <a:srgbClr val="B9791F"/>
                </a:solidFill>
                <a:latin typeface="Yu Gothic"/>
                <a:ea typeface="Yu Gothic"/>
                <a:cs typeface="Yu Gothic"/>
              </a:rPr>
              <a:t>「金持ちを助けて」——この商売、200年前から</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出典：The New York Times（1898年3月20日）</a:t>
            </a:r>
          </a:p>
        </p:txBody>
      </p:sp>
      <p:sp>
        <p:nvSpPr>
          <p:cNvPr id="5" name="slot:image"/>
          <p:cNvSpPr/>
          <p:nvPr/>
        </p:nvSpPr>
        <p:spPr>
          <a:xfrm>
            <a:off x="7827062" y="1645920"/>
            <a:ext cx="3678832" cy="4133088"/>
          </a:xfrm>
          <a:prstGeom prst="roundRect">
            <a:avLst>
              <a:gd name="adj" fmla="val 3479"/>
            </a:avLst>
          </a:prstGeom>
          <a:solidFill>
            <a:srgbClr val="F1F2F5"/>
          </a:solidFill>
          <a:ln w="9525">
            <a:solidFill>
              <a:srgbClr val="5C647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noAutofit/>
          </a:bodyPr>
          <a:lstStyle/>
          <a:p>
            <a:pPr algn="ctr">
              <a:lnSpc>
                <a:spcPct val="130000"/>
              </a:lnSpc>
            </a:pPr>
            <a:r>
              <a:rPr sz="1500" b="1">
                <a:solidFill>
                  <a:srgbClr val="5C6472"/>
                </a:solidFill>
                <a:latin typeface="Yu Gothic"/>
                <a:ea typeface="Yu Gothic"/>
                <a:cs typeface="Yu Gothic"/>
              </a:rPr>
              <a:t>イメージ画像スペース</a:t>
            </a:r>
          </a:p>
          <a:p>
            <a:pPr algn="ctr">
              <a:lnSpc>
                <a:spcPct val="135000"/>
              </a:lnSpc>
            </a:pPr>
            <a:r>
              <a:rPr sz="1200" b="0">
                <a:solidFill>
                  <a:srgbClr val="5C6472"/>
                </a:solidFill>
                <a:latin typeface="Yu Gothic"/>
                <a:ea typeface="Yu Gothic"/>
                <a:cs typeface="Yu Gothic"/>
              </a:rPr>
              <a:t>19世紀の古い手紙のイラスト</a:t>
            </a:r>
          </a:p>
        </p:txBody>
      </p:sp>
      <p:sp>
        <p:nvSpPr>
          <p:cNvPr id="6" name="TextBox 5"/>
          <p:cNvSpPr txBox="1"/>
          <p:nvPr/>
        </p:nvSpPr>
        <p:spPr>
          <a:xfrm>
            <a:off x="685800" y="1645920"/>
            <a:ext cx="6708459" cy="2875788"/>
          </a:xfrm>
          <a:prstGeom prst="rect">
            <a:avLst/>
          </a:prstGeom>
          <a:noFill/>
        </p:spPr>
        <p:txBody>
          <a:bodyPr wrap="square" anchor="t">
            <a:noAutofit/>
          </a:bodyPr>
          <a:lstStyle/>
          <a:p>
            <a:pPr marL="279400" indent="-279400">
              <a:lnSpc>
                <a:spcPct val="135000"/>
              </a:lnSpc>
              <a:spcAft>
                <a:spcPts val="769"/>
              </a:spcAft>
            </a:pPr>
            <a:r>
              <a:rPr sz="2200" b="0">
                <a:solidFill>
                  <a:srgbClr val="20242C"/>
                </a:solidFill>
                <a:latin typeface="Yu Gothic"/>
                <a:ea typeface="Yu Gothic"/>
                <a:cs typeface="Yu Gothic"/>
              </a:rPr>
              <a:t>・「囚われたお金持ちを助ければ、財産の3分の1を差し上げます」</a:t>
            </a:r>
          </a:p>
          <a:p>
            <a:pPr marL="279400" indent="-279400">
              <a:lnSpc>
                <a:spcPct val="135000"/>
              </a:lnSpc>
              <a:spcAft>
                <a:spcPts val="769"/>
              </a:spcAft>
            </a:pPr>
            <a:r>
              <a:rPr sz="2200" b="0">
                <a:solidFill>
                  <a:srgbClr val="20242C"/>
                </a:solidFill>
                <a:latin typeface="Yu Gothic"/>
                <a:ea typeface="Yu Gothic"/>
                <a:cs typeface="Yu Gothic"/>
              </a:rPr>
              <a:t>・19世紀、スペインから資産家に届いた手紙——「スペインの囚人」</a:t>
            </a:r>
          </a:p>
          <a:p>
            <a:pPr marL="279400" indent="-279400">
              <a:lnSpc>
                <a:spcPct val="135000"/>
              </a:lnSpc>
            </a:pPr>
            <a:r>
              <a:rPr sz="2200" b="0">
                <a:solidFill>
                  <a:srgbClr val="20242C"/>
                </a:solidFill>
                <a:latin typeface="Yu Gothic"/>
                <a:ea typeface="Yu Gothic"/>
                <a:cs typeface="Yu Gothic"/>
              </a:rPr>
              <a:t>・送っても囚人は出てこない——追加請求が何度でも。1898年のNYタイムズも「蘇った古い詐欺」と報道</a:t>
            </a:r>
          </a:p>
        </p:txBody>
      </p:sp>
      <p:sp>
        <p:nvSpPr>
          <p:cNvPr id="7" name="Rounded Rectangle 6"/>
          <p:cNvSpPr/>
          <p:nvPr/>
        </p:nvSpPr>
        <p:spPr>
          <a:xfrm>
            <a:off x="685800" y="4686300"/>
            <a:ext cx="6708459" cy="1092708"/>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手紙の決まり文句：「このことは、誰にも言わないでください」</a:t>
            </a:r>
          </a:p>
        </p:txBody>
      </p:sp>
      <p:sp>
        <p:nvSpPr>
          <p:cNvPr id="8"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9</a:t>
            </a:r>
          </a:p>
        </p:txBody>
      </p:sp>
      <p:sp>
        <p:nvSpPr>
          <p:cNvPr id="9"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3657599"/>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「自分は引っかからない」</a:t>
            </a:r>
          </a:p>
          <a:p>
            <a:pPr algn="ctr">
              <a:lnSpc>
                <a:spcPct val="128000"/>
              </a:lnSpc>
            </a:pPr>
            <a:r>
              <a:rPr sz="5400" b="1">
                <a:solidFill>
                  <a:srgbClr val="20242C"/>
                </a:solidFill>
                <a:latin typeface="Yu Mincho"/>
                <a:ea typeface="Yu Mincho"/>
                <a:cs typeface="Yu Mincho"/>
              </a:rPr>
              <a:t>——それは正しかった。</a:t>
            </a:r>
          </a:p>
          <a:p>
            <a:pPr algn="ctr">
              <a:lnSpc>
                <a:spcPct val="128000"/>
              </a:lnSpc>
            </a:pPr>
            <a:r>
              <a:rPr sz="5400" b="1">
                <a:solidFill>
                  <a:srgbClr val="20242C"/>
                </a:solidFill>
                <a:latin typeface="Yu Mincho"/>
                <a:ea typeface="Yu Mincho"/>
                <a:cs typeface="Yu Mincho"/>
              </a:rPr>
              <a:t>今までは。</a:t>
            </a:r>
          </a:p>
        </p:txBody>
      </p:sp>
      <p:sp>
        <p:nvSpPr>
          <p:cNvPr id="3" name="TextBox 2"/>
          <p:cNvSpPr txBox="1"/>
          <p:nvPr/>
        </p:nvSpPr>
        <p:spPr>
          <a:xfrm>
            <a:off x="685800" y="4983479"/>
            <a:ext cx="10820095" cy="1005840"/>
          </a:xfrm>
          <a:prstGeom prst="rect">
            <a:avLst/>
          </a:prstGeom>
          <a:noFill/>
        </p:spPr>
        <p:txBody>
          <a:bodyPr wrap="square" anchor="ctr">
            <a:noAutofit/>
          </a:bodyPr>
          <a:lstStyle/>
          <a:p>
            <a:pPr algn="ctr">
              <a:lnSpc>
                <a:spcPct val="130000"/>
              </a:lnSpc>
            </a:pPr>
            <a:r>
              <a:rPr sz="2200" b="0">
                <a:solidFill>
                  <a:srgbClr val="5C6472"/>
                </a:solidFill>
                <a:latin typeface="Yu Gothic"/>
                <a:ea typeface="Yu Gothic"/>
                <a:cs typeface="Yu Gothic"/>
              </a:rPr>
              <a:t>昔のばらまき詐欺は、疑う人を最初からふるい落としていた</a:t>
            </a:r>
          </a:p>
        </p:txBody>
      </p:sp>
      <p:sp>
        <p:nvSpPr>
          <p:cNvPr id="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10</a:t>
            </a:r>
          </a:p>
        </p:txBody>
      </p:sp>
      <p:sp>
        <p:nvSpPr>
          <p:cNvPr id="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AI時代：ばらまきから、カスタムへ</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340156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・昔から、同じ嘘を大勢に送るのは「安い」／一人に合わせた嘘を作るのは「高い」——だから詐欺はばらまき型だった</a:t>
            </a:r>
          </a:p>
          <a:p>
            <a:pPr marL="355600" indent="-355600">
              <a:lnSpc>
                <a:spcPct val="135000"/>
              </a:lnSpc>
              <a:spcAft>
                <a:spcPts val="979"/>
              </a:spcAft>
            </a:pPr>
            <a:r>
              <a:rPr sz="2800" b="0">
                <a:solidFill>
                  <a:srgbClr val="20242C"/>
                </a:solidFill>
                <a:latin typeface="Yu Gothic"/>
                <a:ea typeface="Yu Gothic"/>
                <a:cs typeface="Yu Gothic"/>
              </a:rPr>
              <a:t>・AIがその「高い作業」（相手を調べる・本物らしい文章や声を作る・受け答えする）を、タダ同然にした</a:t>
            </a:r>
          </a:p>
          <a:p>
            <a:pPr marL="355600" indent="-355600">
              <a:lnSpc>
                <a:spcPct val="135000"/>
              </a:lnSpc>
            </a:pPr>
            <a:r>
              <a:rPr sz="2800" b="0">
                <a:solidFill>
                  <a:srgbClr val="20242C"/>
                </a:solidFill>
                <a:latin typeface="Yu Gothic"/>
                <a:ea typeface="Yu Gothic"/>
                <a:cs typeface="Yu Gothic"/>
              </a:rPr>
              <a:t>・結果——ばらまきの安さのまま、一人ひとりに合わせた「カスタム詐欺」ができる</a:t>
            </a:r>
          </a:p>
        </p:txBody>
      </p:sp>
      <p:sp>
        <p:nvSpPr>
          <p:cNvPr id="5" name="Rounded Rectangle 4"/>
          <p:cNvSpPr/>
          <p:nvPr/>
        </p:nvSpPr>
        <p:spPr>
          <a:xfrm>
            <a:off x="685800" y="5212080"/>
            <a:ext cx="10820095" cy="777240"/>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見え透いた嘘は、もう来ません。あなたに合わせた、賢い嘘が来ます</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11</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38億円のニセ会議（香港・実話）</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出典：CNN・香港警察発表（被害約38億円）</a:t>
            </a:r>
          </a:p>
        </p:txBody>
      </p:sp>
      <p:sp>
        <p:nvSpPr>
          <p:cNvPr id="5" name="slot:image"/>
          <p:cNvSpPr/>
          <p:nvPr/>
        </p:nvSpPr>
        <p:spPr>
          <a:xfrm>
            <a:off x="7827062" y="1645920"/>
            <a:ext cx="3678832" cy="4133088"/>
          </a:xfrm>
          <a:prstGeom prst="roundRect">
            <a:avLst>
              <a:gd name="adj" fmla="val 3479"/>
            </a:avLst>
          </a:prstGeom>
          <a:solidFill>
            <a:srgbClr val="F1F2F5"/>
          </a:solidFill>
          <a:ln w="9525">
            <a:solidFill>
              <a:srgbClr val="5C647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noAutofit/>
          </a:bodyPr>
          <a:lstStyle/>
          <a:p>
            <a:pPr algn="ctr">
              <a:lnSpc>
                <a:spcPct val="130000"/>
              </a:lnSpc>
            </a:pPr>
            <a:r>
              <a:rPr sz="1500" b="1">
                <a:solidFill>
                  <a:srgbClr val="5C6472"/>
                </a:solidFill>
                <a:latin typeface="Yu Gothic"/>
                <a:ea typeface="Yu Gothic"/>
                <a:cs typeface="Yu Gothic"/>
              </a:rPr>
              <a:t>イメージ画像スペース</a:t>
            </a:r>
          </a:p>
          <a:p>
            <a:pPr algn="ctr">
              <a:lnSpc>
                <a:spcPct val="135000"/>
              </a:lnSpc>
            </a:pPr>
            <a:r>
              <a:rPr sz="1200" b="0">
                <a:solidFill>
                  <a:srgbClr val="5C6472"/>
                </a:solidFill>
                <a:latin typeface="Yu Gothic"/>
                <a:ea typeface="Yu Gothic"/>
                <a:cs typeface="Yu Gothic"/>
              </a:rPr>
              <a:t>ビデオ会議画面のイメージ（人物はシルエット）</a:t>
            </a:r>
          </a:p>
        </p:txBody>
      </p:sp>
      <p:sp>
        <p:nvSpPr>
          <p:cNvPr id="6" name="TextBox 5"/>
          <p:cNvSpPr txBox="1"/>
          <p:nvPr/>
        </p:nvSpPr>
        <p:spPr>
          <a:xfrm>
            <a:off x="685800" y="1645920"/>
            <a:ext cx="6708459" cy="2875788"/>
          </a:xfrm>
          <a:prstGeom prst="rect">
            <a:avLst/>
          </a:prstGeom>
          <a:noFill/>
        </p:spPr>
        <p:txBody>
          <a:bodyPr wrap="square" anchor="t">
            <a:noAutofit/>
          </a:bodyPr>
          <a:lstStyle/>
          <a:p>
            <a:pPr marL="279400" indent="-279400">
              <a:lnSpc>
                <a:spcPct val="135000"/>
              </a:lnSpc>
              <a:spcAft>
                <a:spcPts val="769"/>
              </a:spcAft>
            </a:pPr>
            <a:r>
              <a:rPr sz="2200" b="0">
                <a:solidFill>
                  <a:srgbClr val="20242C"/>
                </a:solidFill>
                <a:latin typeface="Yu Gothic"/>
                <a:ea typeface="Yu Gothic"/>
                <a:cs typeface="Yu Gothic"/>
              </a:rPr>
              <a:t>・財務責任者から経理担当に「極秘の買収案件。誰にも言わず送金の準備を」——彼は詐欺を疑った</a:t>
            </a:r>
          </a:p>
          <a:p>
            <a:pPr marL="279400" indent="-279400">
              <a:lnSpc>
                <a:spcPct val="135000"/>
              </a:lnSpc>
              <a:spcAft>
                <a:spcPts val="769"/>
              </a:spcAft>
            </a:pPr>
            <a:r>
              <a:rPr sz="2200" b="0">
                <a:solidFill>
                  <a:srgbClr val="20242C"/>
                </a:solidFill>
                <a:latin typeface="Yu Gothic"/>
                <a:ea typeface="Yu Gothic"/>
                <a:cs typeface="Yu Gothic"/>
              </a:rPr>
              <a:t>・確認のビデオ会議には、よく知る上司と同僚たち。顔も声もいつも通り——信じて15回送金</a:t>
            </a:r>
          </a:p>
          <a:p>
            <a:pPr marL="279400" indent="-279400">
              <a:lnSpc>
                <a:spcPct val="135000"/>
              </a:lnSpc>
            </a:pPr>
            <a:r>
              <a:rPr sz="2200" b="0">
                <a:solidFill>
                  <a:srgbClr val="20242C"/>
                </a:solidFill>
                <a:latin typeface="Yu Gothic"/>
                <a:ea typeface="Yu Gothic"/>
                <a:cs typeface="Yu Gothic"/>
              </a:rPr>
              <a:t>・会議にいたのは、本人以外すべてAI製のニセモノ——被害 約38億円</a:t>
            </a:r>
          </a:p>
        </p:txBody>
      </p:sp>
      <p:sp>
        <p:nvSpPr>
          <p:cNvPr id="7" name="Rounded Rectangle 6"/>
          <p:cNvSpPr/>
          <p:nvPr/>
        </p:nvSpPr>
        <p:spPr>
          <a:xfrm>
            <a:off x="685800" y="4686300"/>
            <a:ext cx="6708459" cy="1092708"/>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騙されたのは、うっかり者ではない。一度疑ったプロ</a:t>
            </a:r>
          </a:p>
        </p:txBody>
      </p:sp>
      <p:sp>
        <p:nvSpPr>
          <p:cNvPr id="8"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12</a:t>
            </a:r>
          </a:p>
        </p:txBody>
      </p:sp>
      <p:sp>
        <p:nvSpPr>
          <p:cNvPr id="9"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3600" b="1">
                <a:solidFill>
                  <a:srgbClr val="B9791F"/>
                </a:solidFill>
                <a:latin typeface="Yu Gothic"/>
                <a:ea typeface="Yu Gothic"/>
                <a:cs typeface="Yu Gothic"/>
              </a:rPr>
              <a:t>顔と声の「材料」は、知らないうちに外にある</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lot:image"/>
          <p:cNvSpPr/>
          <p:nvPr/>
        </p:nvSpPr>
        <p:spPr>
          <a:xfrm>
            <a:off x="7827062" y="1645920"/>
            <a:ext cx="3678832" cy="4343400"/>
          </a:xfrm>
          <a:prstGeom prst="roundRect">
            <a:avLst>
              <a:gd name="adj" fmla="val 3479"/>
            </a:avLst>
          </a:prstGeom>
          <a:solidFill>
            <a:srgbClr val="F1F2F5"/>
          </a:solidFill>
          <a:ln w="9525">
            <a:solidFill>
              <a:srgbClr val="5C647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noAutofit/>
          </a:bodyPr>
          <a:lstStyle/>
          <a:p>
            <a:pPr algn="ctr">
              <a:lnSpc>
                <a:spcPct val="130000"/>
              </a:lnSpc>
            </a:pPr>
            <a:r>
              <a:rPr sz="1500" b="1">
                <a:solidFill>
                  <a:srgbClr val="5C6472"/>
                </a:solidFill>
                <a:latin typeface="Yu Gothic"/>
                <a:ea typeface="Yu Gothic"/>
                <a:cs typeface="Yu Gothic"/>
              </a:rPr>
              <a:t>イメージ画像スペース</a:t>
            </a:r>
          </a:p>
          <a:p>
            <a:pPr algn="ctr">
              <a:lnSpc>
                <a:spcPct val="135000"/>
              </a:lnSpc>
            </a:pPr>
            <a:r>
              <a:rPr sz="1200" b="0">
                <a:solidFill>
                  <a:srgbClr val="5C6472"/>
                </a:solidFill>
                <a:latin typeface="Yu Gothic"/>
                <a:ea typeface="Yu Gothic"/>
                <a:cs typeface="Yu Gothic"/>
              </a:rPr>
              <a:t>スマホ動画から声が抜き取られる図</a:t>
            </a:r>
          </a:p>
        </p:txBody>
      </p:sp>
      <p:sp>
        <p:nvSpPr>
          <p:cNvPr id="5" name="TextBox 4"/>
          <p:cNvSpPr txBox="1"/>
          <p:nvPr/>
        </p:nvSpPr>
        <p:spPr>
          <a:xfrm>
            <a:off x="685800" y="1645920"/>
            <a:ext cx="6708459"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・映像の顔は、その場で別人に変えられる段階に来ている</a:t>
            </a:r>
          </a:p>
          <a:p>
            <a:pPr marL="355600" indent="-355600">
              <a:lnSpc>
                <a:spcPct val="135000"/>
              </a:lnSpc>
              <a:spcAft>
                <a:spcPts val="979"/>
              </a:spcAft>
            </a:pPr>
            <a:r>
              <a:rPr sz="2800" b="0">
                <a:solidFill>
                  <a:srgbClr val="20242C"/>
                </a:solidFill>
                <a:latin typeface="Yu Gothic"/>
                <a:ea typeface="Yu Gothic"/>
                <a:cs typeface="Yu Gothic"/>
              </a:rPr>
              <a:t>・声は、ほんの少しの音声から本人そっくりの声が作れる</a:t>
            </a:r>
          </a:p>
          <a:p>
            <a:pPr marL="355600" indent="-355600">
              <a:lnSpc>
                <a:spcPct val="135000"/>
              </a:lnSpc>
            </a:pPr>
            <a:r>
              <a:rPr sz="2800" b="0">
                <a:solidFill>
                  <a:srgbClr val="20242C"/>
                </a:solidFill>
                <a:latin typeface="Yu Gothic"/>
                <a:ea typeface="Yu Gothic"/>
                <a:cs typeface="Yu Gothic"/>
              </a:rPr>
              <a:t>・他人が投稿した動画・会議の録画・留守番電話——自分が用心しても材料は残る</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13</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3657599"/>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では、いまの日本は</a:t>
            </a:r>
          </a:p>
          <a:p>
            <a:pPr algn="ctr">
              <a:lnSpc>
                <a:spcPct val="128000"/>
              </a:lnSpc>
            </a:pPr>
            <a:r>
              <a:rPr sz="5400" b="1">
                <a:solidFill>
                  <a:srgbClr val="20242C"/>
                </a:solidFill>
                <a:latin typeface="Yu Mincho"/>
                <a:ea typeface="Yu Mincho"/>
                <a:cs typeface="Yu Mincho"/>
              </a:rPr>
              <a:t>この進化のどこにいるのか？</a:t>
            </a:r>
          </a:p>
        </p:txBody>
      </p:sp>
      <p:sp>
        <p:nvSpPr>
          <p:cNvPr id="3" name="TextBox 2"/>
          <p:cNvSpPr txBox="1"/>
          <p:nvPr/>
        </p:nvSpPr>
        <p:spPr>
          <a:xfrm>
            <a:off x="685800" y="4983479"/>
            <a:ext cx="10820095" cy="1005840"/>
          </a:xfrm>
          <a:prstGeom prst="rect">
            <a:avLst/>
          </a:prstGeom>
          <a:noFill/>
        </p:spPr>
        <p:txBody>
          <a:bodyPr wrap="square" anchor="ctr">
            <a:noAutofit/>
          </a:bodyPr>
          <a:lstStyle/>
          <a:p>
            <a:pPr algn="ctr">
              <a:lnSpc>
                <a:spcPct val="130000"/>
              </a:lnSpc>
            </a:pPr>
            <a:r>
              <a:rPr sz="2200" b="0">
                <a:solidFill>
                  <a:srgbClr val="5C6472"/>
                </a:solidFill>
                <a:latin typeface="Yu Gothic"/>
                <a:ea typeface="Yu Gothic"/>
                <a:cs typeface="Yu Gothic"/>
              </a:rPr>
              <a:t>疑わない人を“選ぶ”詐欺から、疑う人も“突破する”詐欺へ——ここまでが進化の理論</a:t>
            </a:r>
          </a:p>
        </p:txBody>
      </p:sp>
      <p:sp>
        <p:nvSpPr>
          <p:cNvPr id="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14</a:t>
            </a:r>
          </a:p>
        </p:txBody>
      </p:sp>
      <p:sp>
        <p:nvSpPr>
          <p:cNvPr id="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1 第1部</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3600" b="1">
                <a:solidFill>
                  <a:srgbClr val="B9791F"/>
                </a:solidFill>
                <a:latin typeface="Yu Gothic"/>
                <a:ea typeface="Yu Gothic"/>
                <a:cs typeface="Yu Gothic"/>
              </a:rPr>
              <a:t>「AI詐欺のニュース、あまり聞かないですよね」</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・「AIの声にだまされた」というニュース——聞いたことはありますか？</a:t>
            </a:r>
          </a:p>
          <a:p>
            <a:pPr marL="355600" indent="-355600">
              <a:lnSpc>
                <a:spcPct val="135000"/>
              </a:lnSpc>
            </a:pPr>
            <a:r>
              <a:rPr sz="2800" b="0">
                <a:solidFill>
                  <a:srgbClr val="20242C"/>
                </a:solidFill>
                <a:latin typeface="Yu Gothic"/>
                <a:ea typeface="Yu Gothic"/>
                <a:cs typeface="Yu Gothic"/>
              </a:rPr>
              <a:t>・……あまり聞かないですよね</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15</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実は、あるにはあります——ただし</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出典：警察庁統計・報道／毎日新聞（2026年1月29日）</a:t>
            </a:r>
          </a:p>
        </p:txBody>
      </p:sp>
      <p:sp>
        <p:nvSpPr>
          <p:cNvPr id="5" name="TextBox 4"/>
          <p:cNvSpPr txBox="1"/>
          <p:nvPr/>
        </p:nvSpPr>
        <p:spPr>
          <a:xfrm>
            <a:off x="685800" y="1645920"/>
            <a:ext cx="10820095" cy="413308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・いま目立つのは「有名人のニセ動画」——SNSで投資に誘う偽広告（この手のSNS型投資詐欺は全体で被害1,200億円超・2025年）</a:t>
            </a:r>
          </a:p>
          <a:p>
            <a:pPr marL="355600" indent="-355600">
              <a:lnSpc>
                <a:spcPct val="135000"/>
              </a:lnSpc>
              <a:spcAft>
                <a:spcPts val="979"/>
              </a:spcAft>
            </a:pPr>
            <a:r>
              <a:rPr sz="2800" b="0">
                <a:solidFill>
                  <a:srgbClr val="20242C"/>
                </a:solidFill>
                <a:latin typeface="Yu Gothic"/>
                <a:ea typeface="Yu Gothic"/>
                <a:cs typeface="Yu Gothic"/>
              </a:rPr>
              <a:t>・続くのは、警察官を装う海外拠点の詐欺グループ——AIで台本とニセ警察官の映像を作り、日本人に電話（2026年1月摘発・被害約1,900万円）——このくらい</a:t>
            </a:r>
          </a:p>
          <a:p>
            <a:pPr marL="355600" indent="-355600">
              <a:lnSpc>
                <a:spcPct val="135000"/>
              </a:lnSpc>
            </a:pPr>
            <a:r>
              <a:rPr sz="2800" b="0">
                <a:solidFill>
                  <a:srgbClr val="20242C"/>
                </a:solidFill>
                <a:latin typeface="Yu Gothic"/>
                <a:ea typeface="Yu Gothic"/>
                <a:cs typeface="Yu Gothic"/>
              </a:rPr>
              <a:t>・「家族の声をまねた詐欺」が日本で確認された報道はまだない（統計に「AI詐欺」の欄もない）</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16</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圧倒的に多いのは、警察の偽番号。</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出典：警察庁 令和7年統計（講演直前に最新値を再確認）</a:t>
            </a:r>
          </a:p>
        </p:txBody>
      </p:sp>
      <p:sp>
        <p:nvSpPr>
          <p:cNvPr id="5" name="TextBox 4"/>
          <p:cNvSpPr txBox="1"/>
          <p:nvPr/>
        </p:nvSpPr>
        <p:spPr>
          <a:xfrm>
            <a:off x="685800" y="5138928"/>
            <a:ext cx="10820095" cy="640080"/>
          </a:xfrm>
          <a:prstGeom prst="rect">
            <a:avLst/>
          </a:prstGeom>
          <a:noFill/>
        </p:spPr>
        <p:txBody>
          <a:bodyPr wrap="square" anchor="ctr">
            <a:noAutofit/>
          </a:bodyPr>
          <a:lstStyle/>
          <a:p>
            <a:pPr algn="l"/>
            <a:r>
              <a:rPr sz="3000" b="1">
                <a:solidFill>
                  <a:srgbClr val="A83B3B"/>
                </a:solidFill>
                <a:latin typeface="Yu Gothic"/>
                <a:ea typeface="Yu Gothic"/>
                <a:cs typeface="Yu Gothic"/>
              </a:rPr>
              <a:t>警察署の番号表示は、本人確認になりません</a:t>
            </a:r>
          </a:p>
        </p:txBody>
      </p:sp>
      <p:sp>
        <p:nvSpPr>
          <p:cNvPr id="6" name="TextBox 5"/>
          <p:cNvSpPr txBox="1"/>
          <p:nvPr/>
        </p:nvSpPr>
        <p:spPr>
          <a:xfrm>
            <a:off x="685800" y="1645920"/>
            <a:ext cx="3383280" cy="646176"/>
          </a:xfrm>
          <a:prstGeom prst="rect">
            <a:avLst/>
          </a:prstGeom>
          <a:noFill/>
        </p:spPr>
        <p:txBody>
          <a:bodyPr wrap="square" anchor="ctr">
            <a:noAutofit/>
          </a:bodyPr>
          <a:lstStyle/>
          <a:p>
            <a:pPr algn="l">
              <a:lnSpc>
                <a:spcPct val="125000"/>
              </a:lnSpc>
            </a:pPr>
            <a:r>
              <a:rPr sz="2000" b="0">
                <a:solidFill>
                  <a:srgbClr val="5C6472"/>
                </a:solidFill>
                <a:latin typeface="Yu Gothic"/>
                <a:ea typeface="Yu Gothic"/>
                <a:cs typeface="Yu Gothic"/>
              </a:rPr>
              <a:t>2025年 詐欺全体の被害</a:t>
            </a:r>
          </a:p>
        </p:txBody>
      </p:sp>
      <p:sp>
        <p:nvSpPr>
          <p:cNvPr id="7" name="TextBox 6"/>
          <p:cNvSpPr txBox="1"/>
          <p:nvPr/>
        </p:nvSpPr>
        <p:spPr>
          <a:xfrm>
            <a:off x="4343400" y="1645920"/>
            <a:ext cx="7178040" cy="646176"/>
          </a:xfrm>
          <a:prstGeom prst="rect">
            <a:avLst/>
          </a:prstGeom>
          <a:noFill/>
        </p:spPr>
        <p:txBody>
          <a:bodyPr wrap="square" anchor="ctr">
            <a:noAutofit/>
          </a:bodyPr>
          <a:lstStyle/>
          <a:p>
            <a:pPr>
              <a:lnSpc>
                <a:spcPct val="120000"/>
              </a:lnSpc>
            </a:pPr>
            <a:r>
              <a:rPr sz="2800" b="1">
                <a:solidFill>
                  <a:srgbClr val="B9791F"/>
                </a:solidFill>
                <a:latin typeface="Yu Gothic"/>
                <a:ea typeface="Yu Gothic"/>
                <a:cs typeface="Yu Gothic"/>
              </a:rPr>
              <a:t>約3,257億円</a:t>
            </a:r>
            <a:r>
              <a:rPr sz="2800" b="1">
                <a:solidFill>
                  <a:srgbClr val="20242C"/>
                </a:solidFill>
                <a:latin typeface="Yu Gothic"/>
                <a:ea typeface="Yu Gothic"/>
                <a:cs typeface="Yu Gothic"/>
              </a:rPr>
              <a:t>（過去最悪）</a:t>
            </a:r>
          </a:p>
        </p:txBody>
      </p:sp>
      <p:sp>
        <p:nvSpPr>
          <p:cNvPr id="8" name="Rectangle 7"/>
          <p:cNvSpPr/>
          <p:nvPr/>
        </p:nvSpPr>
        <p:spPr>
          <a:xfrm>
            <a:off x="685800" y="2310384"/>
            <a:ext cx="10820095" cy="12801"/>
          </a:xfrm>
          <a:prstGeom prst="rect">
            <a:avLst/>
          </a:prstGeom>
          <a:solidFill>
            <a:srgbClr val="E6E1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346960"/>
            <a:ext cx="3383280" cy="854456"/>
          </a:xfrm>
          <a:prstGeom prst="rect">
            <a:avLst/>
          </a:prstGeom>
          <a:noFill/>
        </p:spPr>
        <p:txBody>
          <a:bodyPr wrap="square" anchor="ctr">
            <a:noAutofit/>
          </a:bodyPr>
          <a:lstStyle/>
          <a:p>
            <a:pPr algn="l">
              <a:lnSpc>
                <a:spcPct val="125000"/>
              </a:lnSpc>
            </a:pPr>
            <a:r>
              <a:rPr sz="2000" b="0">
                <a:solidFill>
                  <a:srgbClr val="5C6472"/>
                </a:solidFill>
                <a:latin typeface="Yu Gothic"/>
                <a:ea typeface="Yu Gothic"/>
                <a:cs typeface="Yu Gothic"/>
              </a:rPr>
              <a:t>うち特殊詐欺（電話などのなりすまし型）</a:t>
            </a:r>
          </a:p>
        </p:txBody>
      </p:sp>
      <p:sp>
        <p:nvSpPr>
          <p:cNvPr id="10" name="TextBox 9"/>
          <p:cNvSpPr txBox="1"/>
          <p:nvPr/>
        </p:nvSpPr>
        <p:spPr>
          <a:xfrm>
            <a:off x="4343400" y="2346960"/>
            <a:ext cx="7178040" cy="854456"/>
          </a:xfrm>
          <a:prstGeom prst="rect">
            <a:avLst/>
          </a:prstGeom>
          <a:noFill/>
        </p:spPr>
        <p:txBody>
          <a:bodyPr wrap="square" anchor="ctr">
            <a:noAutofit/>
          </a:bodyPr>
          <a:lstStyle/>
          <a:p>
            <a:pPr>
              <a:lnSpc>
                <a:spcPct val="120000"/>
              </a:lnSpc>
            </a:pPr>
            <a:r>
              <a:rPr sz="2800" b="1">
                <a:solidFill>
                  <a:srgbClr val="B9791F"/>
                </a:solidFill>
                <a:latin typeface="Yu Gothic"/>
                <a:ea typeface="Yu Gothic"/>
                <a:cs typeface="Yu Gothic"/>
              </a:rPr>
              <a:t>約1,423億円</a:t>
            </a:r>
          </a:p>
        </p:txBody>
      </p:sp>
      <p:sp>
        <p:nvSpPr>
          <p:cNvPr id="11" name="Rectangle 10"/>
          <p:cNvSpPr/>
          <p:nvPr/>
        </p:nvSpPr>
        <p:spPr>
          <a:xfrm>
            <a:off x="685800" y="3219704"/>
            <a:ext cx="10820095" cy="12801"/>
          </a:xfrm>
          <a:prstGeom prst="rect">
            <a:avLst/>
          </a:prstGeom>
          <a:solidFill>
            <a:srgbClr val="E6E1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256280"/>
            <a:ext cx="3383280" cy="854456"/>
          </a:xfrm>
          <a:prstGeom prst="rect">
            <a:avLst/>
          </a:prstGeom>
          <a:noFill/>
        </p:spPr>
        <p:txBody>
          <a:bodyPr wrap="square" anchor="ctr">
            <a:noAutofit/>
          </a:bodyPr>
          <a:lstStyle/>
          <a:p>
            <a:pPr algn="l">
              <a:lnSpc>
                <a:spcPct val="125000"/>
              </a:lnSpc>
            </a:pPr>
            <a:r>
              <a:rPr sz="2000" b="0">
                <a:solidFill>
                  <a:srgbClr val="5C6472"/>
                </a:solidFill>
                <a:latin typeface="Yu Gothic"/>
                <a:ea typeface="Yu Gothic"/>
                <a:cs typeface="Yu Gothic"/>
              </a:rPr>
              <a:t>特殊詐欺の約7割＝約1,005億円</a:t>
            </a:r>
          </a:p>
        </p:txBody>
      </p:sp>
      <p:sp>
        <p:nvSpPr>
          <p:cNvPr id="13" name="TextBox 12"/>
          <p:cNvSpPr txBox="1"/>
          <p:nvPr/>
        </p:nvSpPr>
        <p:spPr>
          <a:xfrm>
            <a:off x="4343400" y="3256280"/>
            <a:ext cx="7178040" cy="854456"/>
          </a:xfrm>
          <a:prstGeom prst="rect">
            <a:avLst/>
          </a:prstGeom>
          <a:noFill/>
        </p:spPr>
        <p:txBody>
          <a:bodyPr wrap="square" anchor="ctr">
            <a:noAutofit/>
          </a:bodyPr>
          <a:lstStyle/>
          <a:p>
            <a:pPr>
              <a:lnSpc>
                <a:spcPct val="120000"/>
              </a:lnSpc>
            </a:pPr>
            <a:r>
              <a:rPr sz="2800" b="1">
                <a:solidFill>
                  <a:srgbClr val="B9791F"/>
                </a:solidFill>
                <a:latin typeface="Yu Gothic"/>
                <a:ea typeface="Yu Gothic"/>
                <a:cs typeface="Yu Gothic"/>
              </a:rPr>
              <a:t>「ニセ警察詐欺」</a:t>
            </a:r>
          </a:p>
        </p:txBody>
      </p:sp>
      <p:sp>
        <p:nvSpPr>
          <p:cNvPr id="14" name="Rectangle 13"/>
          <p:cNvSpPr/>
          <p:nvPr/>
        </p:nvSpPr>
        <p:spPr>
          <a:xfrm>
            <a:off x="685800" y="4129023"/>
            <a:ext cx="10820095" cy="12801"/>
          </a:xfrm>
          <a:prstGeom prst="rect">
            <a:avLst/>
          </a:prstGeom>
          <a:solidFill>
            <a:srgbClr val="E6E1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165600"/>
            <a:ext cx="3383280" cy="1072896"/>
          </a:xfrm>
          <a:prstGeom prst="rect">
            <a:avLst/>
          </a:prstGeom>
          <a:noFill/>
        </p:spPr>
        <p:txBody>
          <a:bodyPr wrap="square" anchor="ctr">
            <a:noAutofit/>
          </a:bodyPr>
          <a:lstStyle/>
          <a:p>
            <a:pPr algn="l">
              <a:lnSpc>
                <a:spcPct val="125000"/>
              </a:lnSpc>
            </a:pPr>
            <a:r>
              <a:rPr sz="2000" b="0">
                <a:solidFill>
                  <a:srgbClr val="5C6472"/>
                </a:solidFill>
                <a:latin typeface="Yu Gothic"/>
                <a:ea typeface="Yu Gothic"/>
                <a:cs typeface="Yu Gothic"/>
              </a:rPr>
              <a:t>手口</a:t>
            </a:r>
          </a:p>
        </p:txBody>
      </p:sp>
      <p:sp>
        <p:nvSpPr>
          <p:cNvPr id="16" name="TextBox 15"/>
          <p:cNvSpPr txBox="1"/>
          <p:nvPr/>
        </p:nvSpPr>
        <p:spPr>
          <a:xfrm>
            <a:off x="4343400" y="4165600"/>
            <a:ext cx="7178040" cy="1072896"/>
          </a:xfrm>
          <a:prstGeom prst="rect">
            <a:avLst/>
          </a:prstGeom>
          <a:noFill/>
        </p:spPr>
        <p:txBody>
          <a:bodyPr wrap="square" anchor="ctr">
            <a:noAutofit/>
          </a:bodyPr>
          <a:lstStyle/>
          <a:p>
            <a:pPr>
              <a:lnSpc>
                <a:spcPct val="120000"/>
              </a:lnSpc>
            </a:pPr>
            <a:r>
              <a:rPr sz="2800" b="1">
                <a:solidFill>
                  <a:srgbClr val="B9791F"/>
                </a:solidFill>
                <a:latin typeface="Yu Gothic"/>
                <a:ea typeface="Yu Gothic"/>
                <a:cs typeface="Yu Gothic"/>
              </a:rPr>
              <a:t>「＋」</a:t>
            </a:r>
            <a:r>
              <a:rPr sz="2800" b="1">
                <a:solidFill>
                  <a:srgbClr val="20242C"/>
                </a:solidFill>
                <a:latin typeface="Yu Gothic"/>
                <a:ea typeface="Yu Gothic"/>
                <a:cs typeface="Yu Gothic"/>
              </a:rPr>
              <a:t>で始まる国際電話から、警察署そっくりの番号（末尾</a:t>
            </a:r>
            <a:r>
              <a:rPr sz="2800" b="1">
                <a:solidFill>
                  <a:srgbClr val="B9791F"/>
                </a:solidFill>
                <a:latin typeface="Yu Gothic"/>
                <a:ea typeface="Yu Gothic"/>
                <a:cs typeface="Yu Gothic"/>
              </a:rPr>
              <a:t>0110</a:t>
            </a:r>
            <a:r>
              <a:rPr sz="2800" b="1">
                <a:solidFill>
                  <a:srgbClr val="20242C"/>
                </a:solidFill>
                <a:latin typeface="Yu Gothic"/>
                <a:ea typeface="Yu Gothic"/>
                <a:cs typeface="Yu Gothic"/>
              </a:rPr>
              <a:t>）を偽装表示</a:t>
            </a:r>
          </a:p>
        </p:txBody>
      </p:sp>
      <p:sp>
        <p:nvSpPr>
          <p:cNvPr id="17"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17</a:t>
            </a:r>
          </a:p>
        </p:txBody>
      </p:sp>
      <p:sp>
        <p:nvSpPr>
          <p:cNvPr id="18"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数字で見る——ニセ警察詐欺の“いま”</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出典：警察庁「令和7年における特殊詐欺及びSNS型投資・ロマンス詐欺の認知・検挙状況等について」</a:t>
            </a:r>
          </a:p>
        </p:txBody>
      </p:sp>
      <p:pic>
        <p:nvPicPr>
          <p:cNvPr id="5" name="Picture 4" descr="nise-keisatsu.png"/>
          <p:cNvPicPr>
            <a:picLocks noChangeAspect="1"/>
          </p:cNvPicPr>
          <p:nvPr/>
        </p:nvPicPr>
        <p:blipFill>
          <a:blip r:embed="rId2"/>
          <a:stretch>
            <a:fillRect/>
          </a:stretch>
        </p:blipFill>
        <p:spPr>
          <a:xfrm>
            <a:off x="1310167" y="1645920"/>
            <a:ext cx="9571361" cy="4133088"/>
          </a:xfrm>
          <a:prstGeom prst="rect">
            <a:avLst/>
          </a:prstGeom>
        </p:spPr>
      </p:pic>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18</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ニセ警察も、第1部と同じ構造</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340156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・最初は自動音声——何十万件にもばらまく</a:t>
            </a:r>
          </a:p>
          <a:p>
            <a:pPr marL="355600" indent="-355600">
              <a:lnSpc>
                <a:spcPct val="135000"/>
              </a:lnSpc>
              <a:spcAft>
                <a:spcPts val="979"/>
              </a:spcAft>
            </a:pPr>
            <a:r>
              <a:rPr sz="2800" b="0">
                <a:solidFill>
                  <a:srgbClr val="20242C"/>
                </a:solidFill>
                <a:latin typeface="Yu Gothic"/>
                <a:ea typeface="Yu Gothic"/>
                <a:cs typeface="Yu Gothic"/>
              </a:rPr>
              <a:t>・信じて操作した人だけが、人間の詐欺師につながる</a:t>
            </a:r>
          </a:p>
          <a:p>
            <a:pPr marL="355600" indent="-355600">
              <a:lnSpc>
                <a:spcPct val="135000"/>
              </a:lnSpc>
            </a:pPr>
            <a:r>
              <a:rPr sz="2800" b="0">
                <a:solidFill>
                  <a:srgbClr val="20242C"/>
                </a:solidFill>
                <a:latin typeface="Yu Gothic"/>
                <a:ea typeface="Yu Gothic"/>
                <a:cs typeface="Yu Gothic"/>
              </a:rPr>
              <a:t>・「警察」という大胆でバレやすい嘘 ＝ 疑う人を先にふるい落とす選別装置</a:t>
            </a:r>
          </a:p>
        </p:txBody>
      </p:sp>
      <p:sp>
        <p:nvSpPr>
          <p:cNvPr id="5" name="Rounded Rectangle 4"/>
          <p:cNvSpPr/>
          <p:nvPr/>
        </p:nvSpPr>
        <p:spPr>
          <a:xfrm>
            <a:off x="685800" y="5212080"/>
            <a:ext cx="10820095" cy="777240"/>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いまの日本の主流は、「ばらまいて選別する」商売の完成形</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19</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そして、海外では</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852160"/>
            <a:ext cx="10820095" cy="347472"/>
          </a:xfrm>
          <a:prstGeom prst="rect">
            <a:avLst/>
          </a:prstGeom>
          <a:noFill/>
        </p:spPr>
        <p:txBody>
          <a:bodyPr wrap="square" anchor="t">
            <a:noAutofit/>
          </a:bodyPr>
          <a:lstStyle/>
          <a:p>
            <a:pPr algn="l"/>
            <a:r>
              <a:rPr sz="1500" b="0">
                <a:solidFill>
                  <a:srgbClr val="5C6472"/>
                </a:solidFill>
                <a:latin typeface="Yu Gothic"/>
                <a:ea typeface="Yu Gothic"/>
                <a:cs typeface="Yu Gothic"/>
              </a:rPr>
              <a:t>出典：FBI IC3 注意喚起（2024年12月）／FTC 消費者警告</a:t>
            </a:r>
          </a:p>
        </p:txBody>
      </p:sp>
      <p:sp>
        <p:nvSpPr>
          <p:cNvPr id="5" name="TextBox 4"/>
          <p:cNvSpPr txBox="1"/>
          <p:nvPr/>
        </p:nvSpPr>
        <p:spPr>
          <a:xfrm>
            <a:off x="685800" y="1645920"/>
            <a:ext cx="10820095" cy="413308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・アメリカでは FBI・FTC が「生成AIを使った詐欺」への警告を公式に発表</a:t>
            </a:r>
          </a:p>
          <a:p>
            <a:pPr marL="355600" indent="-355600">
              <a:lnSpc>
                <a:spcPct val="135000"/>
              </a:lnSpc>
            </a:pPr>
            <a:r>
              <a:rPr sz="2800" b="0">
                <a:solidFill>
                  <a:srgbClr val="20242C"/>
                </a:solidFill>
                <a:latin typeface="Yu Gothic"/>
                <a:ea typeface="Yu Gothic"/>
                <a:cs typeface="Yu Gothic"/>
              </a:rPr>
              <a:t>・音声クローン詐欺——ごく一般の家庭を狙う相談が、実際に増えている</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20</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4800600"/>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海外で増えているのは、</a:t>
            </a:r>
          </a:p>
          <a:p>
            <a:pPr algn="ctr">
              <a:lnSpc>
                <a:spcPct val="128000"/>
              </a:lnSpc>
            </a:pPr>
            <a:r>
              <a:rPr sz="5400" b="1">
                <a:solidFill>
                  <a:srgbClr val="20242C"/>
                </a:solidFill>
                <a:latin typeface="Yu Mincho"/>
                <a:ea typeface="Yu Mincho"/>
                <a:cs typeface="Yu Mincho"/>
              </a:rPr>
              <a:t>家族の声をまねた詐欺</a:t>
            </a:r>
          </a:p>
          <a:p>
            <a:pPr algn="ctr">
              <a:lnSpc>
                <a:spcPct val="128000"/>
              </a:lnSpc>
            </a:pPr>
            <a:r>
              <a:rPr sz="5400" b="1">
                <a:solidFill>
                  <a:srgbClr val="20242C"/>
                </a:solidFill>
                <a:latin typeface="Yu Mincho"/>
                <a:ea typeface="Yu Mincho"/>
                <a:cs typeface="Yu Mincho"/>
              </a:rPr>
              <a:t>——標的は、ごく普通の家庭</a:t>
            </a:r>
          </a:p>
        </p:txBody>
      </p:sp>
      <p:sp>
        <p:nvSpPr>
          <p:cNvPr id="3"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21</a:t>
            </a:r>
          </a:p>
        </p:txBody>
      </p:sp>
      <p:sp>
        <p:nvSpPr>
          <p:cNvPr id="4"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なぜ、日本は有名人ばかりなのか</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・差は「材料」——有名人の顔と声は、ネットに無限に転がっている</a:t>
            </a:r>
          </a:p>
          <a:p>
            <a:pPr marL="355600" indent="-355600">
              <a:lnSpc>
                <a:spcPct val="135000"/>
              </a:lnSpc>
              <a:spcAft>
                <a:spcPts val="979"/>
              </a:spcAft>
            </a:pPr>
            <a:r>
              <a:rPr sz="2800" b="0">
                <a:solidFill>
                  <a:srgbClr val="20242C"/>
                </a:solidFill>
                <a:latin typeface="Yu Gothic"/>
                <a:ea typeface="Yu Gothic"/>
                <a:cs typeface="Yu Gothic"/>
              </a:rPr>
              <a:t>・一般人は、集めやすい素材が少ないぶん後回しになっているだけ——狙われていないのではない</a:t>
            </a:r>
          </a:p>
          <a:p>
            <a:pPr marL="355600" indent="-355600">
              <a:lnSpc>
                <a:spcPct val="135000"/>
              </a:lnSpc>
            </a:pPr>
            <a:r>
              <a:rPr sz="2800" b="0">
                <a:solidFill>
                  <a:srgbClr val="20242C"/>
                </a:solidFill>
                <a:latin typeface="Yu Gothic"/>
                <a:ea typeface="Yu Gothic"/>
                <a:cs typeface="Yu Gothic"/>
              </a:rPr>
              <a:t>・AIは数十秒の音声で「本人そっくり」を作れる——この時間差は、必ず埋まる</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22</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3657599"/>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次に来るのは——</a:t>
            </a:r>
          </a:p>
          <a:p>
            <a:pPr algn="ctr">
              <a:lnSpc>
                <a:spcPct val="128000"/>
              </a:lnSpc>
            </a:pPr>
            <a:r>
              <a:rPr sz="5400" b="1">
                <a:solidFill>
                  <a:srgbClr val="20242C"/>
                </a:solidFill>
                <a:latin typeface="Yu Mincho"/>
                <a:ea typeface="Yu Mincho"/>
                <a:cs typeface="Yu Mincho"/>
              </a:rPr>
              <a:t>番号偽装に、AIが混ざる</a:t>
            </a:r>
          </a:p>
        </p:txBody>
      </p:sp>
      <p:sp>
        <p:nvSpPr>
          <p:cNvPr id="3" name="TextBox 2"/>
          <p:cNvSpPr txBox="1"/>
          <p:nvPr/>
        </p:nvSpPr>
        <p:spPr>
          <a:xfrm>
            <a:off x="685800" y="4983479"/>
            <a:ext cx="10820095" cy="1005840"/>
          </a:xfrm>
          <a:prstGeom prst="rect">
            <a:avLst/>
          </a:prstGeom>
          <a:noFill/>
        </p:spPr>
        <p:txBody>
          <a:bodyPr wrap="square" anchor="ctr">
            <a:noAutofit/>
          </a:bodyPr>
          <a:lstStyle/>
          <a:p>
            <a:pPr algn="ctr">
              <a:lnSpc>
                <a:spcPct val="130000"/>
              </a:lnSpc>
            </a:pPr>
            <a:r>
              <a:rPr sz="2200" b="0">
                <a:solidFill>
                  <a:srgbClr val="5C6472"/>
                </a:solidFill>
                <a:latin typeface="Yu Gothic"/>
                <a:ea typeface="Yu Gothic"/>
                <a:cs typeface="Yu Gothic"/>
              </a:rPr>
              <a:t>「0110」の番号表示で警察だと信じさせ、AIの映像と受け答えで疑いを封じる</a:t>
            </a:r>
          </a:p>
        </p:txBody>
      </p:sp>
      <p:sp>
        <p:nvSpPr>
          <p:cNvPr id="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23</a:t>
            </a:r>
          </a:p>
        </p:txBody>
      </p:sp>
      <p:sp>
        <p:nvSpPr>
          <p:cNvPr id="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2 第2部</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02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4572000" cy="548640"/>
          </a:xfrm>
          <a:prstGeom prst="rect">
            <a:avLst/>
          </a:prstGeom>
          <a:noFill/>
        </p:spPr>
        <p:txBody>
          <a:bodyPr wrap="square" anchor="ctr">
            <a:noAutofit/>
          </a:bodyPr>
          <a:lstStyle/>
          <a:p>
            <a:pPr algn="l"/>
            <a:r>
              <a:rPr sz="2000" b="1">
                <a:solidFill>
                  <a:srgbClr val="B9791F"/>
                </a:solidFill>
                <a:latin typeface="Yu Gothic"/>
                <a:ea typeface="Yu Gothic"/>
                <a:cs typeface="Yu Gothic"/>
              </a:rPr>
              <a:t>実演</a:t>
            </a:r>
          </a:p>
        </p:txBody>
      </p:sp>
      <p:sp>
        <p:nvSpPr>
          <p:cNvPr id="4" name="TextBox 3"/>
          <p:cNvSpPr txBox="1"/>
          <p:nvPr/>
        </p:nvSpPr>
        <p:spPr>
          <a:xfrm>
            <a:off x="685800" y="2240280"/>
            <a:ext cx="10820095" cy="1554480"/>
          </a:xfrm>
          <a:prstGeom prst="rect">
            <a:avLst/>
          </a:prstGeom>
          <a:noFill/>
        </p:spPr>
        <p:txBody>
          <a:bodyPr wrap="square" anchor="ctr">
            <a:noAutofit/>
          </a:bodyPr>
          <a:lstStyle/>
          <a:p>
            <a:pPr algn="ctr"/>
            <a:r>
              <a:rPr sz="5400" b="1">
                <a:solidFill>
                  <a:srgbClr val="FFFFFF"/>
                </a:solidFill>
                <a:latin typeface="Yu Gothic"/>
                <a:ea typeface="Yu Gothic"/>
                <a:cs typeface="Yu Gothic"/>
              </a:rPr>
              <a:t>「本人らしさ」は作られる</a:t>
            </a:r>
          </a:p>
        </p:txBody>
      </p:sp>
      <p:sp>
        <p:nvSpPr>
          <p:cNvPr id="5" name="TextBox 4"/>
          <p:cNvSpPr txBox="1"/>
          <p:nvPr/>
        </p:nvSpPr>
        <p:spPr>
          <a:xfrm>
            <a:off x="685800" y="3977639"/>
            <a:ext cx="10820095" cy="868680"/>
          </a:xfrm>
          <a:prstGeom prst="rect">
            <a:avLst/>
          </a:prstGeom>
          <a:noFill/>
        </p:spPr>
        <p:txBody>
          <a:bodyPr wrap="square" anchor="ctr">
            <a:noAutofit/>
          </a:bodyPr>
          <a:lstStyle/>
          <a:p>
            <a:pPr algn="ctr"/>
            <a:r>
              <a:rPr sz="2400" b="0">
                <a:solidFill>
                  <a:srgbClr val="BCBDC0"/>
                </a:solidFill>
                <a:latin typeface="Yu Gothic"/>
                <a:ea typeface="Yu Gothic"/>
                <a:cs typeface="Yu Gothic"/>
              </a:rPr>
              <a:t>クローン音声・ライブAI対話</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9AA3B2"/>
                </a:solidFill>
                <a:latin typeface="Yu Gothic"/>
                <a:ea typeface="Yu Gothic"/>
                <a:cs typeface="Yu Gothic"/>
              </a:rPr>
              <a:t>24</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9AA3B2"/>
                </a:solidFill>
                <a:latin typeface="Yu Gothic"/>
                <a:ea typeface="Yu Gothic"/>
                <a:cs typeface="Yu Gothic"/>
              </a:rPr>
              <a:t>3 実演</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実演①　偽の「私」の声</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340156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・私の声をAIに数十秒だけ学ばせて作った「偽の私」（本人同意・AI生成明示）</a:t>
            </a:r>
          </a:p>
          <a:p>
            <a:pPr marL="355600" indent="-355600">
              <a:lnSpc>
                <a:spcPct val="135000"/>
              </a:lnSpc>
            </a:pPr>
            <a:r>
              <a:rPr sz="2800" b="0">
                <a:solidFill>
                  <a:srgbClr val="20242C"/>
                </a:solidFill>
                <a:latin typeface="Yu Gothic"/>
                <a:ea typeface="Yu Gothic"/>
                <a:cs typeface="Yu Gothic"/>
              </a:rPr>
              <a:t>・毎日いっしょに働く同僚でも、電話では分からないと言った</a:t>
            </a:r>
          </a:p>
        </p:txBody>
      </p:sp>
      <p:sp>
        <p:nvSpPr>
          <p:cNvPr id="5" name="Rounded Rectangle 4"/>
          <p:cNvSpPr/>
          <p:nvPr/>
        </p:nvSpPr>
        <p:spPr>
          <a:xfrm>
            <a:off x="685800" y="5212080"/>
            <a:ext cx="10820095" cy="777240"/>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私の声ですらこれです。ご家族の声なら、どうでしょうか</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25</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3 実演</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3600" b="1">
                <a:solidFill>
                  <a:srgbClr val="B9791F"/>
                </a:solidFill>
                <a:latin typeface="Yu Gothic"/>
                <a:ea typeface="Yu Gothic"/>
                <a:cs typeface="Yu Gothic"/>
              </a:rPr>
              <a:t>実演②　AIは相手に合わせて話し方を変える</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・会場からの予想外のひと言で、AIの言い方がその場で変わる</a:t>
            </a:r>
          </a:p>
          <a:p>
            <a:pPr marL="355600" indent="-355600">
              <a:lnSpc>
                <a:spcPct val="135000"/>
              </a:lnSpc>
            </a:pPr>
            <a:r>
              <a:rPr sz="2800" b="0">
                <a:solidFill>
                  <a:srgbClr val="20242C"/>
                </a:solidFill>
                <a:latin typeface="Yu Gothic"/>
                <a:ea typeface="Yu Gothic"/>
                <a:cs typeface="Yu Gothic"/>
              </a:rPr>
              <a:t>・はじめに会場で挙げてもらった“本人らしさ”——話し方や雰囲気も、相手がこちらに合わせて作ってくる</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26</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3 実演</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実演③　最新のAIは断る。しかし——</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・「実在の人の声を真似て、家族に振り込ませて」→ AIは断る</a:t>
            </a:r>
          </a:p>
          <a:p>
            <a:pPr marL="355600" indent="-355600">
              <a:lnSpc>
                <a:spcPct val="135000"/>
              </a:lnSpc>
              <a:spcAft>
                <a:spcPts val="979"/>
              </a:spcAft>
            </a:pPr>
            <a:r>
              <a:rPr sz="2800" b="0">
                <a:solidFill>
                  <a:srgbClr val="20242C"/>
                </a:solidFill>
                <a:latin typeface="Yu Gothic"/>
                <a:ea typeface="Yu Gothic"/>
                <a:cs typeface="Yu Gothic"/>
              </a:rPr>
              <a:t>・断ったのは「この製品」であって「この技術」ではない</a:t>
            </a:r>
          </a:p>
          <a:p>
            <a:pPr marL="355600" indent="-355600">
              <a:lnSpc>
                <a:spcPct val="135000"/>
              </a:lnSpc>
            </a:pPr>
            <a:r>
              <a:rPr sz="2800" b="0">
                <a:solidFill>
                  <a:srgbClr val="20242C"/>
                </a:solidFill>
                <a:latin typeface="Yu Gothic"/>
                <a:ea typeface="Yu Gothic"/>
                <a:cs typeface="Yu Gothic"/>
              </a:rPr>
              <a:t>・かかってくる偽の声に、同じ安全装置があるとは限らない</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27</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3 実演</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4800600"/>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番号も、顔も、声も、</a:t>
            </a:r>
          </a:p>
          <a:p>
            <a:pPr algn="ctr">
              <a:lnSpc>
                <a:spcPct val="128000"/>
              </a:lnSpc>
            </a:pPr>
            <a:r>
              <a:rPr sz="5400" b="1">
                <a:solidFill>
                  <a:srgbClr val="20242C"/>
                </a:solidFill>
                <a:latin typeface="Yu Mincho"/>
                <a:ea typeface="Yu Mincho"/>
                <a:cs typeface="Yu Mincho"/>
              </a:rPr>
              <a:t>話し方も偽れる。</a:t>
            </a:r>
          </a:p>
          <a:p>
            <a:pPr algn="ctr">
              <a:lnSpc>
                <a:spcPct val="128000"/>
              </a:lnSpc>
            </a:pPr>
            <a:r>
              <a:rPr sz="5400" b="1">
                <a:solidFill>
                  <a:srgbClr val="20242C"/>
                </a:solidFill>
                <a:latin typeface="Yu Mincho"/>
                <a:ea typeface="Yu Mincho"/>
                <a:cs typeface="Yu Mincho"/>
              </a:rPr>
              <a:t>では、何で見分けますか？</a:t>
            </a:r>
          </a:p>
        </p:txBody>
      </p:sp>
      <p:sp>
        <p:nvSpPr>
          <p:cNvPr id="3"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28</a:t>
            </a:r>
          </a:p>
        </p:txBody>
      </p:sp>
      <p:sp>
        <p:nvSpPr>
          <p:cNvPr id="4"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3 実演</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手がかりは、全部裏切られた</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3401568"/>
          </a:xfrm>
          <a:prstGeom prst="rect">
            <a:avLst/>
          </a:prstGeom>
          <a:noFill/>
        </p:spPr>
        <p:txBody>
          <a:bodyPr wrap="square" anchor="t">
            <a:noAutofit/>
          </a:bodyPr>
          <a:lstStyle/>
          <a:p>
            <a:pPr marL="355600" indent="-355600">
              <a:lnSpc>
                <a:spcPct val="135000"/>
              </a:lnSpc>
              <a:spcAft>
                <a:spcPts val="979"/>
              </a:spcAft>
            </a:pPr>
            <a:r>
              <a:rPr sz="2800" b="0">
                <a:solidFill>
                  <a:srgbClr val="20242C"/>
                </a:solidFill>
                <a:latin typeface="Yu Gothic"/>
                <a:ea typeface="Yu Gothic"/>
                <a:cs typeface="Yu Gothic"/>
              </a:rPr>
              <a:t>・はじめに会場で挙げてもらった手がかり——声・話し方・内容・雰囲気・番号（板書を再掲）</a:t>
            </a:r>
          </a:p>
          <a:p>
            <a:pPr marL="355600" indent="-355600">
              <a:lnSpc>
                <a:spcPct val="135000"/>
              </a:lnSpc>
            </a:pPr>
            <a:r>
              <a:rPr sz="2800" b="0">
                <a:solidFill>
                  <a:srgbClr val="20242C"/>
                </a:solidFill>
                <a:latin typeface="Yu Gothic"/>
                <a:ea typeface="Yu Gothic"/>
                <a:cs typeface="Yu Gothic"/>
              </a:rPr>
              <a:t>・見分ける勝負は、完璧な偽物を作れる側が必ず勝つ</a:t>
            </a:r>
          </a:p>
        </p:txBody>
      </p:sp>
      <p:sp>
        <p:nvSpPr>
          <p:cNvPr id="5" name="Rounded Rectangle 4"/>
          <p:cNvSpPr/>
          <p:nvPr/>
        </p:nvSpPr>
        <p:spPr>
          <a:xfrm>
            <a:off x="685800" y="5212080"/>
            <a:ext cx="10820095" cy="777240"/>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だから——手がかりで見分けること自体を、やめる</a:t>
            </a:r>
          </a:p>
        </p:txBody>
      </p:sp>
      <p:sp>
        <p:nvSpPr>
          <p:cNvPr id="6"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29</a:t>
            </a:r>
          </a:p>
        </p:txBody>
      </p:sp>
      <p:sp>
        <p:nvSpPr>
          <p:cNvPr id="7"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4 結論</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守り方は 3つ</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3931920" cy="457200"/>
          </a:xfrm>
          <a:prstGeom prst="rect">
            <a:avLst/>
          </a:prstGeom>
          <a:noFill/>
        </p:spPr>
        <p:txBody>
          <a:bodyPr wrap="square" anchor="ctr">
            <a:noAutofit/>
          </a:bodyPr>
          <a:lstStyle/>
          <a:p>
            <a:pPr algn="l">
              <a:lnSpc>
                <a:spcPct val="115000"/>
              </a:lnSpc>
            </a:pPr>
            <a:r>
              <a:rPr sz="2000" b="1">
                <a:solidFill>
                  <a:srgbClr val="B9791F"/>
                </a:solidFill>
                <a:latin typeface="Yu Gothic"/>
                <a:ea typeface="Yu Gothic"/>
                <a:cs typeface="Yu Gothic"/>
              </a:rPr>
              <a:t>①【鳴る前】</a:t>
            </a:r>
          </a:p>
        </p:txBody>
      </p:sp>
      <p:sp>
        <p:nvSpPr>
          <p:cNvPr id="5" name="TextBox 4"/>
          <p:cNvSpPr txBox="1"/>
          <p:nvPr/>
        </p:nvSpPr>
        <p:spPr>
          <a:xfrm>
            <a:off x="4892040" y="1645920"/>
            <a:ext cx="6613855" cy="4572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怪しい電話を防ぐ</a:t>
            </a:r>
          </a:p>
        </p:txBody>
      </p:sp>
      <p:sp>
        <p:nvSpPr>
          <p:cNvPr id="6" name="TextBox 5"/>
          <p:cNvSpPr txBox="1"/>
          <p:nvPr/>
        </p:nvSpPr>
        <p:spPr>
          <a:xfrm>
            <a:off x="4892040" y="2139696"/>
            <a:ext cx="6613855" cy="645668"/>
          </a:xfrm>
          <a:prstGeom prst="rect">
            <a:avLst/>
          </a:prstGeom>
          <a:noFill/>
        </p:spPr>
        <p:txBody>
          <a:bodyPr wrap="square" anchor="t">
            <a:noAutofit/>
          </a:bodyPr>
          <a:lstStyle/>
          <a:p>
            <a:pPr algn="l">
              <a:lnSpc>
                <a:spcPct val="130000"/>
              </a:lnSpc>
            </a:pPr>
            <a:r>
              <a:rPr sz="1900" b="0">
                <a:solidFill>
                  <a:srgbClr val="5C6472"/>
                </a:solidFill>
                <a:latin typeface="Yu Gothic"/>
                <a:ea typeface="Yu Gothic"/>
                <a:cs typeface="Yu Gothic"/>
              </a:rPr>
              <a:t>固定電話は国際電話の利用休止／スマホは迷惑電話対策アプリ</a:t>
            </a:r>
          </a:p>
        </p:txBody>
      </p:sp>
      <p:sp>
        <p:nvSpPr>
          <p:cNvPr id="7" name="TextBox 6"/>
          <p:cNvSpPr txBox="1"/>
          <p:nvPr/>
        </p:nvSpPr>
        <p:spPr>
          <a:xfrm>
            <a:off x="685800" y="2933827"/>
            <a:ext cx="3931920" cy="457200"/>
          </a:xfrm>
          <a:prstGeom prst="rect">
            <a:avLst/>
          </a:prstGeom>
          <a:noFill/>
        </p:spPr>
        <p:txBody>
          <a:bodyPr wrap="square" anchor="ctr">
            <a:noAutofit/>
          </a:bodyPr>
          <a:lstStyle/>
          <a:p>
            <a:pPr algn="l">
              <a:lnSpc>
                <a:spcPct val="115000"/>
              </a:lnSpc>
            </a:pPr>
            <a:r>
              <a:rPr sz="2000" b="1">
                <a:solidFill>
                  <a:srgbClr val="B9791F"/>
                </a:solidFill>
                <a:latin typeface="Yu Gothic"/>
                <a:ea typeface="Yu Gothic"/>
                <a:cs typeface="Yu Gothic"/>
              </a:rPr>
              <a:t>②【警察・お金の話が出たら】</a:t>
            </a:r>
          </a:p>
        </p:txBody>
      </p:sp>
      <p:sp>
        <p:nvSpPr>
          <p:cNvPr id="8" name="TextBox 7"/>
          <p:cNvSpPr txBox="1"/>
          <p:nvPr/>
        </p:nvSpPr>
        <p:spPr>
          <a:xfrm>
            <a:off x="4892040" y="2933827"/>
            <a:ext cx="6613855" cy="4572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番号や映像を信じず、切る</a:t>
            </a:r>
          </a:p>
        </p:txBody>
      </p:sp>
      <p:sp>
        <p:nvSpPr>
          <p:cNvPr id="9" name="TextBox 8"/>
          <p:cNvSpPr txBox="1"/>
          <p:nvPr/>
        </p:nvSpPr>
        <p:spPr>
          <a:xfrm>
            <a:off x="4892040" y="3427603"/>
            <a:ext cx="6613855" cy="331977"/>
          </a:xfrm>
          <a:prstGeom prst="rect">
            <a:avLst/>
          </a:prstGeom>
          <a:noFill/>
        </p:spPr>
        <p:txBody>
          <a:bodyPr wrap="square" anchor="t">
            <a:noAutofit/>
          </a:bodyPr>
          <a:lstStyle/>
          <a:p>
            <a:pPr algn="l">
              <a:lnSpc>
                <a:spcPct val="130000"/>
              </a:lnSpc>
            </a:pPr>
            <a:r>
              <a:rPr sz="1900" b="0">
                <a:solidFill>
                  <a:srgbClr val="5C6472"/>
                </a:solidFill>
                <a:latin typeface="Yu Gothic"/>
                <a:ea typeface="Yu Gothic"/>
                <a:cs typeface="Yu Gothic"/>
              </a:rPr>
              <a:t>「誰にも言うな」「ATM」「ギフトカード」は即切りの合図</a:t>
            </a:r>
          </a:p>
        </p:txBody>
      </p:sp>
      <p:sp>
        <p:nvSpPr>
          <p:cNvPr id="10" name="TextBox 9"/>
          <p:cNvSpPr txBox="1"/>
          <p:nvPr/>
        </p:nvSpPr>
        <p:spPr>
          <a:xfrm>
            <a:off x="685800" y="3908044"/>
            <a:ext cx="3931920" cy="457200"/>
          </a:xfrm>
          <a:prstGeom prst="rect">
            <a:avLst/>
          </a:prstGeom>
          <a:noFill/>
        </p:spPr>
        <p:txBody>
          <a:bodyPr wrap="square" anchor="ctr">
            <a:noAutofit/>
          </a:bodyPr>
          <a:lstStyle/>
          <a:p>
            <a:pPr algn="l">
              <a:lnSpc>
                <a:spcPct val="115000"/>
              </a:lnSpc>
            </a:pPr>
            <a:r>
              <a:rPr sz="2000" b="1">
                <a:solidFill>
                  <a:srgbClr val="B9791F"/>
                </a:solidFill>
                <a:latin typeface="Yu Gothic"/>
                <a:ea typeface="Yu Gothic"/>
                <a:cs typeface="Yu Gothic"/>
              </a:rPr>
              <a:t>③【切ったあと】</a:t>
            </a:r>
          </a:p>
        </p:txBody>
      </p:sp>
      <p:sp>
        <p:nvSpPr>
          <p:cNvPr id="11" name="TextBox 10"/>
          <p:cNvSpPr txBox="1"/>
          <p:nvPr/>
        </p:nvSpPr>
        <p:spPr>
          <a:xfrm>
            <a:off x="4892040" y="3908044"/>
            <a:ext cx="6613855" cy="4572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自分で調べた番号で確かめる</a:t>
            </a:r>
          </a:p>
        </p:txBody>
      </p:sp>
      <p:sp>
        <p:nvSpPr>
          <p:cNvPr id="12" name="TextBox 11"/>
          <p:cNvSpPr txBox="1"/>
          <p:nvPr/>
        </p:nvSpPr>
        <p:spPr>
          <a:xfrm>
            <a:off x="4892040" y="4401820"/>
            <a:ext cx="6613855" cy="645668"/>
          </a:xfrm>
          <a:prstGeom prst="rect">
            <a:avLst/>
          </a:prstGeom>
          <a:noFill/>
        </p:spPr>
        <p:txBody>
          <a:bodyPr wrap="square" anchor="t">
            <a:noAutofit/>
          </a:bodyPr>
          <a:lstStyle/>
          <a:p>
            <a:pPr algn="l">
              <a:lnSpc>
                <a:spcPct val="130000"/>
              </a:lnSpc>
            </a:pPr>
            <a:r>
              <a:rPr sz="1900" b="0">
                <a:solidFill>
                  <a:srgbClr val="5C6472"/>
                </a:solidFill>
                <a:latin typeface="Yu Gothic"/>
                <a:ea typeface="Yu Gothic"/>
                <a:cs typeface="Yu Gothic"/>
              </a:rPr>
              <a:t>着信履歴は使わない／警察への相談は全国共通の相談専用電話「#9110」／家族はもともと知っている番号へ</a:t>
            </a:r>
          </a:p>
        </p:txBody>
      </p:sp>
      <p:sp>
        <p:nvSpPr>
          <p:cNvPr id="13" name="Rounded Rectangle 12"/>
          <p:cNvSpPr/>
          <p:nvPr/>
        </p:nvSpPr>
        <p:spPr>
          <a:xfrm>
            <a:off x="685800" y="5212080"/>
            <a:ext cx="10820095" cy="777240"/>
          </a:xfrm>
          <a:prstGeom prst="roundRect">
            <a:avLst>
              <a:gd name="adj" fmla="val 16000"/>
            </a:avLst>
          </a:prstGeom>
          <a:solidFill>
            <a:srgbClr val="F3E6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sz="2600" b="1">
                <a:solidFill>
                  <a:srgbClr val="20242C"/>
                </a:solidFill>
                <a:latin typeface="Yu Gothic"/>
                <a:ea typeface="Yu Gothic"/>
                <a:cs typeface="Yu Gothic"/>
              </a:rPr>
              <a:t>電話では、その場で送金せず、口座や暗証番号も伝えない</a:t>
            </a:r>
          </a:p>
        </p:txBody>
      </p:sp>
      <p:sp>
        <p:nvSpPr>
          <p:cNvPr id="1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30</a:t>
            </a:r>
          </a:p>
        </p:txBody>
      </p:sp>
      <p:sp>
        <p:nvSpPr>
          <p:cNvPr id="1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4 結論</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今日のまとめ</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731520" cy="457200"/>
          </a:xfrm>
          <a:prstGeom prst="rect">
            <a:avLst/>
          </a:prstGeom>
          <a:noFill/>
        </p:spPr>
        <p:txBody>
          <a:bodyPr wrap="square" anchor="ctr">
            <a:noAutofit/>
          </a:bodyPr>
          <a:lstStyle/>
          <a:p>
            <a:pPr algn="r">
              <a:lnSpc>
                <a:spcPct val="115000"/>
              </a:lnSpc>
            </a:pPr>
            <a:r>
              <a:rPr sz="2800" b="1">
                <a:solidFill>
                  <a:srgbClr val="B9791F"/>
                </a:solidFill>
                <a:latin typeface="Yu Gothic"/>
                <a:ea typeface="Yu Gothic"/>
                <a:cs typeface="Yu Gothic"/>
              </a:rPr>
              <a:t>1</a:t>
            </a:r>
          </a:p>
        </p:txBody>
      </p:sp>
      <p:sp>
        <p:nvSpPr>
          <p:cNvPr id="5" name="TextBox 4"/>
          <p:cNvSpPr txBox="1"/>
          <p:nvPr/>
        </p:nvSpPr>
        <p:spPr>
          <a:xfrm>
            <a:off x="1508760" y="1645920"/>
            <a:ext cx="9997135" cy="4572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バレバレの嘘は、疑わない人を選ぶ「フィルタ」だった</a:t>
            </a:r>
          </a:p>
        </p:txBody>
      </p:sp>
      <p:sp>
        <p:nvSpPr>
          <p:cNvPr id="6" name="TextBox 5"/>
          <p:cNvSpPr txBox="1"/>
          <p:nvPr/>
        </p:nvSpPr>
        <p:spPr>
          <a:xfrm>
            <a:off x="731520" y="2388870"/>
            <a:ext cx="731520" cy="914400"/>
          </a:xfrm>
          <a:prstGeom prst="rect">
            <a:avLst/>
          </a:prstGeom>
          <a:noFill/>
        </p:spPr>
        <p:txBody>
          <a:bodyPr wrap="square" anchor="ctr">
            <a:noAutofit/>
          </a:bodyPr>
          <a:lstStyle/>
          <a:p>
            <a:pPr algn="r">
              <a:lnSpc>
                <a:spcPct val="115000"/>
              </a:lnSpc>
            </a:pPr>
            <a:r>
              <a:rPr sz="2800" b="1">
                <a:solidFill>
                  <a:srgbClr val="B9791F"/>
                </a:solidFill>
                <a:latin typeface="Yu Gothic"/>
                <a:ea typeface="Yu Gothic"/>
                <a:cs typeface="Yu Gothic"/>
              </a:rPr>
              <a:t>2</a:t>
            </a:r>
          </a:p>
        </p:txBody>
      </p:sp>
      <p:sp>
        <p:nvSpPr>
          <p:cNvPr id="7" name="TextBox 6"/>
          <p:cNvSpPr txBox="1"/>
          <p:nvPr/>
        </p:nvSpPr>
        <p:spPr>
          <a:xfrm>
            <a:off x="1508760" y="2388870"/>
            <a:ext cx="9997135" cy="9144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AIがその選別を不要にし、疑う人も突破される時代が始まった</a:t>
            </a:r>
          </a:p>
        </p:txBody>
      </p:sp>
      <p:sp>
        <p:nvSpPr>
          <p:cNvPr id="8" name="TextBox 7"/>
          <p:cNvSpPr txBox="1"/>
          <p:nvPr/>
        </p:nvSpPr>
        <p:spPr>
          <a:xfrm>
            <a:off x="731520" y="3589020"/>
            <a:ext cx="731520" cy="457200"/>
          </a:xfrm>
          <a:prstGeom prst="rect">
            <a:avLst/>
          </a:prstGeom>
          <a:noFill/>
        </p:spPr>
        <p:txBody>
          <a:bodyPr wrap="square" anchor="ctr">
            <a:noAutofit/>
          </a:bodyPr>
          <a:lstStyle/>
          <a:p>
            <a:pPr algn="r">
              <a:lnSpc>
                <a:spcPct val="115000"/>
              </a:lnSpc>
            </a:pPr>
            <a:r>
              <a:rPr sz="2800" b="1">
                <a:solidFill>
                  <a:srgbClr val="B9791F"/>
                </a:solidFill>
                <a:latin typeface="Yu Gothic"/>
                <a:ea typeface="Yu Gothic"/>
                <a:cs typeface="Yu Gothic"/>
              </a:rPr>
              <a:t>3</a:t>
            </a:r>
          </a:p>
        </p:txBody>
      </p:sp>
      <p:sp>
        <p:nvSpPr>
          <p:cNvPr id="9" name="TextBox 8"/>
          <p:cNvSpPr txBox="1"/>
          <p:nvPr/>
        </p:nvSpPr>
        <p:spPr>
          <a:xfrm>
            <a:off x="1508760" y="3589020"/>
            <a:ext cx="9997135" cy="4572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いまの日本の主役は、AIではなく「番号」</a:t>
            </a:r>
          </a:p>
        </p:txBody>
      </p:sp>
      <p:sp>
        <p:nvSpPr>
          <p:cNvPr id="10" name="TextBox 9"/>
          <p:cNvSpPr txBox="1"/>
          <p:nvPr/>
        </p:nvSpPr>
        <p:spPr>
          <a:xfrm>
            <a:off x="731520" y="4331970"/>
            <a:ext cx="731520" cy="457200"/>
          </a:xfrm>
          <a:prstGeom prst="rect">
            <a:avLst/>
          </a:prstGeom>
          <a:noFill/>
        </p:spPr>
        <p:txBody>
          <a:bodyPr wrap="square" anchor="ctr">
            <a:noAutofit/>
          </a:bodyPr>
          <a:lstStyle/>
          <a:p>
            <a:pPr algn="r">
              <a:lnSpc>
                <a:spcPct val="115000"/>
              </a:lnSpc>
            </a:pPr>
            <a:r>
              <a:rPr sz="2800" b="1">
                <a:solidFill>
                  <a:srgbClr val="B9791F"/>
                </a:solidFill>
                <a:latin typeface="Yu Gothic"/>
                <a:ea typeface="Yu Gothic"/>
                <a:cs typeface="Yu Gothic"/>
              </a:rPr>
              <a:t>4</a:t>
            </a:r>
          </a:p>
        </p:txBody>
      </p:sp>
      <p:sp>
        <p:nvSpPr>
          <p:cNvPr id="11" name="TextBox 10"/>
          <p:cNvSpPr txBox="1"/>
          <p:nvPr/>
        </p:nvSpPr>
        <p:spPr>
          <a:xfrm>
            <a:off x="1508760" y="4331970"/>
            <a:ext cx="9997135" cy="4572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次は、番号偽装にAIが混ざってくる</a:t>
            </a:r>
          </a:p>
        </p:txBody>
      </p:sp>
      <p:sp>
        <p:nvSpPr>
          <p:cNvPr id="12" name="TextBox 11"/>
          <p:cNvSpPr txBox="1"/>
          <p:nvPr/>
        </p:nvSpPr>
        <p:spPr>
          <a:xfrm>
            <a:off x="731520" y="5074920"/>
            <a:ext cx="731520" cy="914400"/>
          </a:xfrm>
          <a:prstGeom prst="rect">
            <a:avLst/>
          </a:prstGeom>
          <a:noFill/>
        </p:spPr>
        <p:txBody>
          <a:bodyPr wrap="square" anchor="ctr">
            <a:noAutofit/>
          </a:bodyPr>
          <a:lstStyle/>
          <a:p>
            <a:pPr algn="r">
              <a:lnSpc>
                <a:spcPct val="115000"/>
              </a:lnSpc>
            </a:pPr>
            <a:r>
              <a:rPr sz="2800" b="1">
                <a:solidFill>
                  <a:srgbClr val="B9791F"/>
                </a:solidFill>
                <a:latin typeface="Yu Gothic"/>
                <a:ea typeface="Yu Gothic"/>
                <a:cs typeface="Yu Gothic"/>
              </a:rPr>
              <a:t>5</a:t>
            </a:r>
          </a:p>
        </p:txBody>
      </p:sp>
      <p:sp>
        <p:nvSpPr>
          <p:cNvPr id="13" name="TextBox 12"/>
          <p:cNvSpPr txBox="1"/>
          <p:nvPr/>
        </p:nvSpPr>
        <p:spPr>
          <a:xfrm>
            <a:off x="1508760" y="5074920"/>
            <a:ext cx="9997135" cy="914400"/>
          </a:xfrm>
          <a:prstGeom prst="rect">
            <a:avLst/>
          </a:prstGeom>
          <a:noFill/>
        </p:spPr>
        <p:txBody>
          <a:bodyPr wrap="square" anchor="ctr">
            <a:noAutofit/>
          </a:bodyPr>
          <a:lstStyle/>
          <a:p>
            <a:pPr algn="l">
              <a:lnSpc>
                <a:spcPct val="120000"/>
              </a:lnSpc>
            </a:pPr>
            <a:r>
              <a:rPr sz="3000" b="1">
                <a:solidFill>
                  <a:srgbClr val="20242C"/>
                </a:solidFill>
                <a:latin typeface="Yu Gothic"/>
                <a:ea typeface="Yu Gothic"/>
                <a:cs typeface="Yu Gothic"/>
              </a:rPr>
              <a:t>だから——見分けるのをやめて、一度切って、自分で調べてかけ直す</a:t>
            </a:r>
          </a:p>
        </p:txBody>
      </p:sp>
      <p:sp>
        <p:nvSpPr>
          <p:cNvPr id="14"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31</a:t>
            </a:r>
          </a:p>
        </p:txBody>
      </p:sp>
      <p:sp>
        <p:nvSpPr>
          <p:cNvPr id="15"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4 結論</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0"/>
            <a:ext cx="11185855" cy="2221991"/>
          </a:xfrm>
          <a:prstGeom prst="rect">
            <a:avLst/>
          </a:prstGeom>
          <a:noFill/>
        </p:spPr>
        <p:txBody>
          <a:bodyPr wrap="square" anchor="ctr">
            <a:noAutofit/>
          </a:bodyPr>
          <a:lstStyle/>
          <a:p>
            <a:pPr algn="ctr">
              <a:lnSpc>
                <a:spcPct val="128000"/>
              </a:lnSpc>
            </a:pPr>
            <a:r>
              <a:rPr sz="5400" b="1">
                <a:solidFill>
                  <a:srgbClr val="20242C"/>
                </a:solidFill>
                <a:latin typeface="Yu Mincho"/>
                <a:ea typeface="Yu Mincho"/>
                <a:cs typeface="Yu Mincho"/>
              </a:rPr>
              <a:t>冒頭の1億円は、</a:t>
            </a:r>
          </a:p>
          <a:p>
            <a:pPr algn="ctr">
              <a:lnSpc>
                <a:spcPct val="128000"/>
              </a:lnSpc>
            </a:pPr>
            <a:r>
              <a:rPr sz="5400" b="1">
                <a:solidFill>
                  <a:srgbClr val="20242C"/>
                </a:solidFill>
                <a:latin typeface="Yu Mincho"/>
                <a:ea typeface="Yu Mincho"/>
                <a:cs typeface="Yu Mincho"/>
              </a:rPr>
              <a:t>あらためて、差し上げられません。</a:t>
            </a:r>
          </a:p>
        </p:txBody>
      </p:sp>
      <p:sp>
        <p:nvSpPr>
          <p:cNvPr id="3" name="TextBox 2"/>
          <p:cNvSpPr txBox="1"/>
          <p:nvPr/>
        </p:nvSpPr>
        <p:spPr>
          <a:xfrm>
            <a:off x="685800" y="3547871"/>
            <a:ext cx="10820095" cy="1005840"/>
          </a:xfrm>
          <a:prstGeom prst="rect">
            <a:avLst/>
          </a:prstGeom>
          <a:noFill/>
        </p:spPr>
        <p:txBody>
          <a:bodyPr wrap="square" anchor="ctr">
            <a:noAutofit/>
          </a:bodyPr>
          <a:lstStyle/>
          <a:p>
            <a:pPr algn="ctr">
              <a:lnSpc>
                <a:spcPct val="130000"/>
              </a:lnSpc>
            </a:pPr>
            <a:r>
              <a:rPr sz="2200" b="0">
                <a:solidFill>
                  <a:srgbClr val="5C6472"/>
                </a:solidFill>
                <a:latin typeface="Yu Gothic"/>
                <a:ea typeface="Yu Gothic"/>
                <a:cs typeface="Yu Gothic"/>
              </a:rPr>
              <a:t>帰ったらご家族に「1億円をもらい損ねた話」を——笑い話が、そのまま家族を守る話になります</a:t>
            </a:r>
          </a:p>
        </p:txBody>
      </p:sp>
      <p:sp>
        <p:nvSpPr>
          <p:cNvPr id="4" name="slot:image"/>
          <p:cNvSpPr/>
          <p:nvPr/>
        </p:nvSpPr>
        <p:spPr>
          <a:xfrm>
            <a:off x="685800" y="4754879"/>
            <a:ext cx="10820095" cy="1234440"/>
          </a:xfrm>
          <a:prstGeom prst="roundRect">
            <a:avLst>
              <a:gd name="adj" fmla="val 10370"/>
            </a:avLst>
          </a:prstGeom>
          <a:solidFill>
            <a:srgbClr val="F1F2F5"/>
          </a:solidFill>
          <a:ln w="9525">
            <a:solidFill>
              <a:srgbClr val="5C647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noAutofit/>
          </a:bodyPr>
          <a:lstStyle/>
          <a:p>
            <a:pPr algn="ctr">
              <a:lnSpc>
                <a:spcPct val="130000"/>
              </a:lnSpc>
            </a:pPr>
            <a:r>
              <a:rPr sz="1500" b="1">
                <a:solidFill>
                  <a:srgbClr val="5C6472"/>
                </a:solidFill>
                <a:latin typeface="Yu Gothic"/>
                <a:ea typeface="Yu Gothic"/>
                <a:cs typeface="Yu Gothic"/>
              </a:rPr>
              <a:t>イメージ画像スペース</a:t>
            </a:r>
          </a:p>
          <a:p>
            <a:pPr algn="ctr">
              <a:lnSpc>
                <a:spcPct val="135000"/>
              </a:lnSpc>
            </a:pPr>
            <a:r>
              <a:rPr sz="1200" b="0">
                <a:solidFill>
                  <a:srgbClr val="5C6472"/>
                </a:solidFill>
                <a:latin typeface="Yu Gothic"/>
                <a:ea typeface="Yu Gothic"/>
                <a:cs typeface="Yu Gothic"/>
              </a:rPr>
              <a:t>家族で食卓を囲む温かいイラスト</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32</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4 結論</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960120"/>
          </a:xfrm>
          <a:prstGeom prst="rect">
            <a:avLst/>
          </a:prstGeom>
          <a:noFill/>
        </p:spPr>
        <p:txBody>
          <a:bodyPr wrap="square" anchor="b">
            <a:noAutofit/>
          </a:bodyPr>
          <a:lstStyle/>
          <a:p>
            <a:pPr algn="l"/>
            <a:r>
              <a:rPr sz="4000" b="1">
                <a:solidFill>
                  <a:srgbClr val="B9791F"/>
                </a:solidFill>
                <a:latin typeface="Yu Gothic"/>
                <a:ea typeface="Yu Gothic"/>
                <a:cs typeface="Yu Gothic"/>
              </a:rPr>
              <a:t>主な出典</a:t>
            </a:r>
          </a:p>
        </p:txBody>
      </p:sp>
      <p:sp>
        <p:nvSpPr>
          <p:cNvPr id="3" name="Rectangle 2"/>
          <p:cNvSpPr/>
          <p:nvPr/>
        </p:nvSpPr>
        <p:spPr>
          <a:xfrm>
            <a:off x="685800" y="1463040"/>
            <a:ext cx="2377440" cy="50292"/>
          </a:xfrm>
          <a:prstGeom prst="rect">
            <a:avLst/>
          </a:prstGeom>
          <a:solidFill>
            <a:srgbClr val="B9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5920"/>
            <a:ext cx="10820095" cy="4343400"/>
          </a:xfrm>
          <a:prstGeom prst="rect">
            <a:avLst/>
          </a:prstGeom>
          <a:noFill/>
        </p:spPr>
        <p:txBody>
          <a:bodyPr wrap="square" anchor="t">
            <a:noAutofit/>
          </a:bodyPr>
          <a:lstStyle/>
          <a:p>
            <a:pPr marL="177800" indent="-177800">
              <a:lnSpc>
                <a:spcPct val="125000"/>
              </a:lnSpc>
            </a:pPr>
            <a:r>
              <a:rPr sz="1400" b="0">
                <a:solidFill>
                  <a:srgbClr val="20242C"/>
                </a:solidFill>
                <a:latin typeface="Yu Gothic"/>
                <a:ea typeface="Yu Gothic"/>
                <a:cs typeface="Yu Gothic"/>
                <a:hlinkClick r:id="rId2"/>
              </a:rPr>
              <a:t>・警察庁「令和7年における特殊詐欺及びSNS型投資・ロマンス詐欺の認知・検挙状況等について」</a:t>
            </a:r>
          </a:p>
          <a:p>
            <a:pPr marL="177800" indent="0">
              <a:lnSpc>
                <a:spcPct val="115000"/>
              </a:lnSpc>
              <a:spcAft>
                <a:spcPts val="420"/>
              </a:spcAft>
            </a:pPr>
            <a:r>
              <a:rPr sz="1100" b="0">
                <a:solidFill>
                  <a:srgbClr val="5C6472"/>
                </a:solidFill>
                <a:latin typeface="Yu Gothic"/>
                <a:ea typeface="Yu Gothic"/>
                <a:cs typeface="Yu Gothic"/>
                <a:hlinkClick r:id="rId2"/>
              </a:rPr>
              <a:t>https://www.npa.go.jp/bureau/criminal/souni/tokusyusagi/sagi_keihatsu2025.pdf</a:t>
            </a:r>
          </a:p>
          <a:p>
            <a:pPr marL="177800" indent="-177800">
              <a:lnSpc>
                <a:spcPct val="125000"/>
              </a:lnSpc>
            </a:pPr>
            <a:r>
              <a:rPr sz="1400" b="0">
                <a:solidFill>
                  <a:srgbClr val="20242C"/>
                </a:solidFill>
                <a:latin typeface="Yu Gothic"/>
                <a:ea typeface="Yu Gothic"/>
                <a:cs typeface="Yu Gothic"/>
                <a:hlinkClick r:id="rId3"/>
              </a:rPr>
              <a:t>・Cormac Herley (Microsoft Research)「Why do Nigerian Scammers Say They are from Nigeria?」WEIS 2012</a:t>
            </a:r>
          </a:p>
          <a:p>
            <a:pPr marL="177800" indent="0">
              <a:lnSpc>
                <a:spcPct val="115000"/>
              </a:lnSpc>
              <a:spcAft>
                <a:spcPts val="420"/>
              </a:spcAft>
            </a:pPr>
            <a:r>
              <a:rPr sz="1100" b="0">
                <a:solidFill>
                  <a:srgbClr val="5C6472"/>
                </a:solidFill>
                <a:latin typeface="Yu Gothic"/>
                <a:ea typeface="Yu Gothic"/>
                <a:cs typeface="Yu Gothic"/>
                <a:hlinkClick r:id="rId3"/>
              </a:rPr>
              <a:t>https://www.microsoft.com/en-us/research/publication/why-do-nigerian-scammers-say-they-are-from-nigeria/</a:t>
            </a:r>
          </a:p>
          <a:p>
            <a:pPr marL="177800" indent="-177800">
              <a:lnSpc>
                <a:spcPct val="125000"/>
              </a:lnSpc>
            </a:pPr>
            <a:r>
              <a:rPr sz="1400" b="0">
                <a:solidFill>
                  <a:srgbClr val="20242C"/>
                </a:solidFill>
                <a:latin typeface="Yu Gothic"/>
                <a:ea typeface="Yu Gothic"/>
                <a:cs typeface="Yu Gothic"/>
                <a:hlinkClick r:id="rId4"/>
              </a:rPr>
              <a:t>・The New York Times「An Old Swindle Revived」1898年3月20日</a:t>
            </a:r>
          </a:p>
          <a:p>
            <a:pPr marL="177800" indent="0">
              <a:lnSpc>
                <a:spcPct val="115000"/>
              </a:lnSpc>
              <a:spcAft>
                <a:spcPts val="420"/>
              </a:spcAft>
            </a:pPr>
            <a:r>
              <a:rPr sz="1100" b="0">
                <a:solidFill>
                  <a:srgbClr val="5C6472"/>
                </a:solidFill>
                <a:latin typeface="Yu Gothic"/>
                <a:ea typeface="Yu Gothic"/>
                <a:cs typeface="Yu Gothic"/>
                <a:hlinkClick r:id="rId4"/>
              </a:rPr>
              <a:t>https://www.nytimes.com/1898/03/20/archives/an-old-swindle-revived-the-spanish-prisoner-and-buried-treasure.html</a:t>
            </a:r>
          </a:p>
          <a:p>
            <a:pPr marL="177800" indent="-177800">
              <a:lnSpc>
                <a:spcPct val="125000"/>
              </a:lnSpc>
            </a:pPr>
            <a:r>
              <a:rPr sz="1400" b="0">
                <a:solidFill>
                  <a:srgbClr val="20242C"/>
                </a:solidFill>
                <a:latin typeface="Yu Gothic"/>
                <a:ea typeface="Yu Gothic"/>
                <a:cs typeface="Yu Gothic"/>
                <a:hlinkClick r:id="rId5"/>
              </a:rPr>
              <a:t>・FBI IC3 PSA「Criminals Use Generative AI to Facilitate Financial Fraud」2024年12月</a:t>
            </a:r>
          </a:p>
          <a:p>
            <a:pPr marL="177800" indent="0">
              <a:lnSpc>
                <a:spcPct val="115000"/>
              </a:lnSpc>
              <a:spcAft>
                <a:spcPts val="420"/>
              </a:spcAft>
            </a:pPr>
            <a:r>
              <a:rPr sz="1100" b="0">
                <a:solidFill>
                  <a:srgbClr val="5C6472"/>
                </a:solidFill>
                <a:latin typeface="Yu Gothic"/>
                <a:ea typeface="Yu Gothic"/>
                <a:cs typeface="Yu Gothic"/>
                <a:hlinkClick r:id="rId5"/>
              </a:rPr>
              <a:t>https://www.ic3.gov/PSA/2024/PSA241203</a:t>
            </a:r>
          </a:p>
          <a:p>
            <a:pPr marL="177800" indent="-177800">
              <a:lnSpc>
                <a:spcPct val="125000"/>
              </a:lnSpc>
            </a:pPr>
            <a:r>
              <a:rPr sz="1400" b="0">
                <a:solidFill>
                  <a:srgbClr val="20242C"/>
                </a:solidFill>
                <a:latin typeface="Yu Gothic"/>
                <a:ea typeface="Yu Gothic"/>
                <a:cs typeface="Yu Gothic"/>
                <a:hlinkClick r:id="rId6"/>
              </a:rPr>
              <a:t>・CNN「Finance worker pays out $25 million after video call with deepfake 'CFO'」（香港・約38億円）</a:t>
            </a:r>
          </a:p>
          <a:p>
            <a:pPr marL="177800" indent="0">
              <a:lnSpc>
                <a:spcPct val="115000"/>
              </a:lnSpc>
              <a:spcAft>
                <a:spcPts val="420"/>
              </a:spcAft>
            </a:pPr>
            <a:r>
              <a:rPr sz="1100" b="0">
                <a:solidFill>
                  <a:srgbClr val="5C6472"/>
                </a:solidFill>
                <a:latin typeface="Yu Gothic"/>
                <a:ea typeface="Yu Gothic"/>
                <a:cs typeface="Yu Gothic"/>
                <a:hlinkClick r:id="rId6"/>
              </a:rPr>
              <a:t>https://edition.cnn.com/2024/02/04/asia/deepfake-cfo-scam-hong-kong-intl-hnk/index.html</a:t>
            </a:r>
          </a:p>
          <a:p>
            <a:pPr marL="177800" indent="-177800">
              <a:lnSpc>
                <a:spcPct val="125000"/>
              </a:lnSpc>
            </a:pPr>
            <a:r>
              <a:rPr sz="1400" b="0">
                <a:solidFill>
                  <a:srgbClr val="20242C"/>
                </a:solidFill>
                <a:latin typeface="Yu Gothic"/>
                <a:ea typeface="Yu Gothic"/>
                <a:cs typeface="Yu Gothic"/>
                <a:hlinkClick r:id="rId7"/>
              </a:rPr>
              <a:t>・毎日新聞「AIで『ニセ警察詐欺』か」2026年1月29日（AI台本＋ニセ警察官映像の摘発例）</a:t>
            </a:r>
          </a:p>
          <a:p>
            <a:pPr marL="177800" indent="0">
              <a:lnSpc>
                <a:spcPct val="115000"/>
              </a:lnSpc>
              <a:spcAft>
                <a:spcPts val="420"/>
              </a:spcAft>
            </a:pPr>
            <a:r>
              <a:rPr sz="1100" b="0">
                <a:solidFill>
                  <a:srgbClr val="5C6472"/>
                </a:solidFill>
                <a:latin typeface="Yu Gothic"/>
                <a:ea typeface="Yu Gothic"/>
                <a:cs typeface="Yu Gothic"/>
                <a:hlinkClick r:id="rId7"/>
              </a:rPr>
              <a:t>https://news.infoseek.co.jp/article/mainichi_20260129k0000m040239000c/</a:t>
            </a:r>
          </a:p>
          <a:p>
            <a:pPr marL="177800" indent="-177800">
              <a:lnSpc>
                <a:spcPct val="125000"/>
              </a:lnSpc>
            </a:pPr>
            <a:r>
              <a:rPr sz="1400" b="0">
                <a:solidFill>
                  <a:srgbClr val="20242C"/>
                </a:solidFill>
                <a:latin typeface="Yu Gothic"/>
                <a:ea typeface="Yu Gothic"/>
                <a:cs typeface="Yu Gothic"/>
                <a:hlinkClick r:id="rId8"/>
              </a:rPr>
              <a:t>・KAB熊本朝日放送「被害1200億円超…ディープフェイク動画による詐欺広告」</a:t>
            </a:r>
          </a:p>
          <a:p>
            <a:pPr marL="177800" indent="0">
              <a:lnSpc>
                <a:spcPct val="115000"/>
              </a:lnSpc>
              <a:spcAft>
                <a:spcPts val="420"/>
              </a:spcAft>
            </a:pPr>
            <a:r>
              <a:rPr sz="1100" b="0">
                <a:solidFill>
                  <a:srgbClr val="5C6472"/>
                </a:solidFill>
                <a:latin typeface="Yu Gothic"/>
                <a:ea typeface="Yu Gothic"/>
                <a:cs typeface="Yu Gothic"/>
                <a:hlinkClick r:id="rId8"/>
              </a:rPr>
              <a:t>https://www.kab.co.jp/news/article/16558364</a:t>
            </a:r>
          </a:p>
          <a:p>
            <a:pPr marL="177800" indent="-177800">
              <a:lnSpc>
                <a:spcPct val="125000"/>
              </a:lnSpc>
            </a:pPr>
            <a:r>
              <a:rPr sz="1400" b="0">
                <a:solidFill>
                  <a:srgbClr val="20242C"/>
                </a:solidFill>
                <a:latin typeface="Yu Gothic"/>
                <a:ea typeface="Yu Gothic"/>
                <a:cs typeface="Yu Gothic"/>
                <a:hlinkClick r:id="rId9"/>
              </a:rPr>
              <a:t>・警察庁 SOS47「ニセ警察詐欺に注意！」</a:t>
            </a:r>
          </a:p>
          <a:p>
            <a:pPr marL="177800" indent="0">
              <a:lnSpc>
                <a:spcPct val="115000"/>
              </a:lnSpc>
              <a:spcAft>
                <a:spcPts val="420"/>
              </a:spcAft>
            </a:pPr>
            <a:r>
              <a:rPr sz="1100" b="0">
                <a:solidFill>
                  <a:srgbClr val="5C6472"/>
                </a:solidFill>
                <a:latin typeface="Yu Gothic"/>
                <a:ea typeface="Yu Gothic"/>
                <a:cs typeface="Yu Gothic"/>
                <a:hlinkClick r:id="rId9"/>
              </a:rPr>
              <a:t>https://www.npa.go.jp/bureau/safetylife/sos47/new-topics/241218/02.html</a:t>
            </a:r>
          </a:p>
          <a:p>
            <a:pPr marL="177800" indent="-177800">
              <a:lnSpc>
                <a:spcPct val="125000"/>
              </a:lnSpc>
            </a:pPr>
            <a:r>
              <a:rPr sz="1400" b="0">
                <a:solidFill>
                  <a:srgbClr val="20242C"/>
                </a:solidFill>
                <a:latin typeface="Yu Gothic"/>
                <a:ea typeface="Yu Gothic"/>
                <a:cs typeface="Yu Gothic"/>
                <a:hlinkClick r:id="rId10"/>
              </a:rPr>
              <a:t>・警察庁 SOS47「ニセ警察官とのビデオ通話」</a:t>
            </a:r>
          </a:p>
          <a:p>
            <a:pPr marL="177800" indent="0">
              <a:lnSpc>
                <a:spcPct val="115000"/>
              </a:lnSpc>
              <a:spcAft>
                <a:spcPts val="420"/>
              </a:spcAft>
            </a:pPr>
            <a:r>
              <a:rPr sz="1100" b="0">
                <a:solidFill>
                  <a:srgbClr val="5C6472"/>
                </a:solidFill>
                <a:latin typeface="Yu Gothic"/>
                <a:ea typeface="Yu Gothic"/>
                <a:cs typeface="Yu Gothic"/>
                <a:hlinkClick r:id="rId10"/>
              </a:rPr>
              <a:t>https://www.npa.go.jp/bureau/safetylife/sos47/new-topics/241218/06.html</a:t>
            </a:r>
          </a:p>
          <a:p>
            <a:pPr marL="177800" indent="-177800">
              <a:lnSpc>
                <a:spcPct val="125000"/>
              </a:lnSpc>
            </a:pPr>
            <a:r>
              <a:rPr sz="1400" b="0">
                <a:solidFill>
                  <a:srgbClr val="20242C"/>
                </a:solidFill>
                <a:latin typeface="Yu Gothic"/>
                <a:ea typeface="Yu Gothic"/>
                <a:cs typeface="Yu Gothic"/>
                <a:hlinkClick r:id="rId11"/>
              </a:rPr>
              <a:t>・米国FTC「Scammers use AI to enhance their family emergency schemes」</a:t>
            </a:r>
          </a:p>
          <a:p>
            <a:pPr marL="177800" indent="0">
              <a:lnSpc>
                <a:spcPct val="115000"/>
              </a:lnSpc>
            </a:pPr>
            <a:r>
              <a:rPr sz="1100" b="0">
                <a:solidFill>
                  <a:srgbClr val="5C6472"/>
                </a:solidFill>
                <a:latin typeface="Yu Gothic"/>
                <a:ea typeface="Yu Gothic"/>
                <a:cs typeface="Yu Gothic"/>
                <a:hlinkClick r:id="rId11"/>
              </a:rPr>
              <a:t>https://consumer.ftc.gov/consumer-alerts/2023/03/scammers-use-ai-enhance-their-family-emergency-schemes</a:t>
            </a:r>
          </a:p>
        </p:txBody>
      </p:sp>
      <p:sp>
        <p:nvSpPr>
          <p:cNvPr id="5" name="meta:pageno"/>
          <p:cNvSpPr txBox="1"/>
          <p:nvPr/>
        </p:nvSpPr>
        <p:spPr>
          <a:xfrm>
            <a:off x="10408615" y="6309360"/>
            <a:ext cx="1097280" cy="365760"/>
          </a:xfrm>
          <a:prstGeom prst="rect">
            <a:avLst/>
          </a:prstGeom>
          <a:noFill/>
        </p:spPr>
        <p:txBody>
          <a:bodyPr wrap="square" anchor="ctr">
            <a:noAutofit/>
          </a:bodyPr>
          <a:lstStyle/>
          <a:p>
            <a:pPr algn="r"/>
            <a:r>
              <a:rPr sz="1200" b="0">
                <a:solidFill>
                  <a:srgbClr val="5C6472"/>
                </a:solidFill>
                <a:latin typeface="Yu Gothic"/>
                <a:ea typeface="Yu Gothic"/>
                <a:cs typeface="Yu Gothic"/>
              </a:rPr>
              <a:t>33</a:t>
            </a:r>
          </a:p>
        </p:txBody>
      </p:sp>
      <p:sp>
        <p:nvSpPr>
          <p:cNvPr id="6" name="meta:part"/>
          <p:cNvSpPr txBox="1"/>
          <p:nvPr/>
        </p:nvSpPr>
        <p:spPr>
          <a:xfrm>
            <a:off x="685800" y="6309360"/>
            <a:ext cx="5486400" cy="365760"/>
          </a:xfrm>
          <a:prstGeom prst="rect">
            <a:avLst/>
          </a:prstGeom>
          <a:noFill/>
        </p:spPr>
        <p:txBody>
          <a:bodyPr wrap="square" anchor="ctr">
            <a:noAutofit/>
          </a:bodyPr>
          <a:lstStyle/>
          <a:p>
            <a:pPr algn="l"/>
            <a:r>
              <a:rPr sz="1200" b="0">
                <a:solidFill>
                  <a:srgbClr val="5C6472"/>
                </a:solidFill>
                <a:latin typeface="Yu Gothic"/>
                <a:ea typeface="Yu Gothic"/>
                <a:cs typeface="Yu Gothic"/>
              </a:rPr>
              <a:t>付録</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
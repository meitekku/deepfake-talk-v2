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開演前から表示。第一声は自己紹介から。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名乗りと所属（0.5分）→ 現場の話（2分）:「FXなどの金融口座の開設は、いまはスマホだけで本人確認が終わる『電子身分証明（eKYC）』が当たり前になりました。ところが最近、その顔認証を、ディープフェイクの顔でくぐり抜けようとするケースが増えてきています。私たちは毎日、その攻防の現場にいます」。※eKYC突破の試行増加は本人確認ベンダー各社の公開レポートにある業界公知の動向。自社の具体事例に踏み込む場合のみコンプラ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今日は怖い話もしますが、このMTGの目的は一つ。近い未来に訪れる『AI詐欺』から身を守る方法を、持って帰っていただくことです」。※「怖がらせるためではなく」の保証はこの1回に留める。繰り返すと緊張感ごと抜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この区間の「そうなんだ」：わざと嘘くさい文面は『疑わない人だけを選び出す』フィルタだった——そしてAIが、そのフィルタを不要にする。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まった声で「突然ですが——おめでとうございます！本日このセミナーにご参加の皆さま全員に、もれなく1億円を差し上げます！」。笑いと戸惑いを数秒待ってから「……驚かせてすみません。もちろん、本当ではありません。ただ、いま皆さん、一瞬で『そんなはずはない』と思いましたよね。今日はまず、その話から始めます。実はいまの嘘、プロの詐欺師が何十年も使い続けてきた、由緒正しい手口なんです」。※ネタばらしまで数秒で1セット。打ち消しは口頭で即座に、はっきり言い切る（真に受ける人を出さない）。聴衆の反応を採点する言い方（「全員見抜けましたね」等）は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「——この中のどれかを、受け取ったことのある方？」挙手を待つ。「こんなのには、皆さん引っかかりませんよね？ 応募していない懸賞に当選する。身に覚えのない未納料金。会ったこともない資産家からの遺産。さっきの1億円と同じで、誰が読んでも嘘だと分かります」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ここで不思議に思いませんか。騙すのが目的なら、もっと上手な嘘を書けばいい。なぜプロの詐欺師が、誰が見てもバレる嘘を、何十年も送り続けたのか。——実は、ゾッとするほど合理的な理由がありま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詐欺で一番コストがかかるのは、メールを送ることではなく、その後の『人間によるやり取り』です。返信してきた相手とは、人間の詐欺師が何通も、何日もやり取りしなければいけない。だから途中で我に返る人に手間をかけたら赤字になる。あの嘘くさい文面は、“それでも信じてしまう、いちばん疑わない人”だけが返信してくるように作られた選別装置なんです。賢い人は最初の一通で外れてくれる——それが狙いでした」。※手口の再現方法ではなく、公開研究にある仕組みの説明に留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実はこの商売、200年前からあります。手口を一言でいうと——『囚われたお金持ちを助けてくれたら、財産を分けます』。19世紀、欧米の資産家のもとに、スペインから一通の手紙が届きます。『私は、無実の罪でスペインの牢獄に囚われた、さる高貴なお方の代理人です。あの方は莫大な財産を隠していますが、正体を明かせば命が危ない。看守に渡すお金を立て替えていただければ、釈放の暁には財産の3分の1を差し上げます』——のちに『スペインの囚人』と呼ばれた、有名な手紙詐欺です。お金を送ると、どうなるか。囚人は、出てきません。『手続きに新たな問題が起きた』と、追加の請求が届くんです。何度でも。1898年のニューヨーク・タイムズに『蘇った古い詐欺』という記事が残っています。そしてこの手紙には、決まってこう書いてありました。『このことは、くれぐれも誰にも言わないでください』——覚えておいてください、あとでまた出てきます」。続けて「2000年代、詐欺の舞台は手紙からメールに移ります。さっきの3つは、その直系の子孫です。道具は変わっても、構造は200年間ずっと同じ」。※「誰にも言うな」は結論の即切りの合図で回収する伏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「つまり、さっき『そんなはずはない』と感じた皆さんは、この商売の仕組みの上では、最初から相手にされていません。『自分は引っかからない』——それは正しかった。今までは」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ゆっくり、順を追って。「ここから、時代が変わります。（中略）一人あたりの手間がほぼゼロになると、“オーダーメイドの詐欺”を何万人にも同時に仕掛けられる。公開情報・資産・肩書き・家族構成が外から見える人ほど、狙う価値が出ま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物語として語り、「被害は約38億円」で一拍おく。「騙されたのは、うっかり者ではありません。一度疑ったプロです」。※「何が起きたか」だけを語り、作り方には触れない。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ディープフェイクは、映像の顔をその場で別人に変えられる段階に入っています。声も、ほんの少しの音声——他人が投稿した動画、会議の録画、留守番電話——から本人そっくりの声が作れる。自分が用心して声を出さなくても、材料は知らないうちに外に残っていま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整理します。疑わない人だけを選んでいた詐欺が、疑う人も突破する詐欺へ——手紙から200年続いた“ばらまき”の時代が、終わろうとしています。ここまでが、進化の理論です。……では、いまの日本は、この歴史のどこにいるでしょうか」→第2部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この区間の「そうなんだ」：日本のAI詐欺はまだ「有名人のニセ動画」どまりで、一般人を狙う圧倒的な主役は「番号」。しかしその差は“材料の差”にすぎない——次は、番号偽装にAIが混ざってくる。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部の冒頭は口頭で（スライドなし・1.5分）：「舞台はメールから、電話に移ります。皆さんは普段、電話の相手が本人かどうか、どこで判断していますか？」——声・話し方・内容・雰囲気・番号など、出た答えを板書し、「この紙、最後にもう一度使います」。そのあとこのスライドへ。「第1部の話を聞くと、日本でも『AIの声にだまされた』というニュースが毎日出ていそうですよね。——皆さん、聞いたことはありますか？ ……あまり聞かないですよね」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実は、日本にもAI詐欺はあります。いま一番多いのは、有名人のニセ動画です。実業家や政治家の顔と声をAIで作って投資に誘う偽広告——このSNS型投資詐欺の被害は、2025年に1,200億円を超えました。続くのは、今年1月に摘発された海外拠点のグループ。AIが書いた台本と、警察官のニセ映像で、日本の8人から約1,900万円——数えるほどで、このくらいです。皆さんのご家族の声をまねた詐欺が日本で確認された、という報道はまだありません。統計にも“AI詐欺”という欄はまだない。では、一般の私たちを狙う詐欺で、いま圧倒的に多いのは何か」。※摘発例は「予測」で“もう始まっている”として回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着信画面「○○警察署」のイメージを大きく見せながら。「答えは、警察の偽番号です。犯行電話でいちばん多いのは、『＋』で始まる国際電話です。番号の末尾を『0110』に見せかけて、警察署を装います。今日は、これだけ覚えて帰っていただいても十分です——警察署の番号表示は、本人確認になりません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“警察”なんて、調べればすぐバレる大胆な嘘です。でも皆さんはもう、この理屈をご存じですね。（中略）1億円や当選メールと同じ——疑う人を先にふるい落とす選別装置なんです」。第1部の回収ポイン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『なんだ、日本はまだ有名人の話か』と安心しかけたところで——海外の話です。アメリカでは、FBIやFTCといった当局が『生成AIを使った詐欺』への警告を公式に出しています。しかも標的は有名人ではありません。家族の声をまねた音声クローン詐欺——ごく一般の家庭を狙う相談が、実際に増えているんです」。※「急増」等の倍率は言わず、当局が公式警告を出している事実で語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拍おいて、ゆっくり。「しかも標的は、有名人ではありません。家族の声をまねた音声クローン詐欺——皆さんと同じ、ごく一般の家庭が狙われています」。ここが第2部後半の転調点。次の「なぜ日本は有名人ばかりなのか（材料の差）」への引き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なぜ日本は有名人ばかりで、海外は一般の家庭まで進んでいるのか。差は、材料です。有名人の顔と声は、ネット上に無限に転がっている。私たち一般人のデータはまだ少ない——狙われていないのではなく、後回しになっているだけです。でもAIは、数十秒の音声があれば本人そっくりを作れるようになりました。この時間差は、必ず埋まりま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ゆっくり。「そして埋まるときも、番号偽装が消えてAIに置き換わるわけではありません。いまある型に、AIが“混ざって”きます。さっきの1月の摘発——AIの台本と警察官のニセ映像——は、もうその始まりです。『0110』の番号表示で信じさせて、本人そっくりの声でとどめを刺す。番号のカードとAIのカードが、同時に切られる。そうなったとき、皆さんは何で見分けますか？ 言葉だけでは信じにくいと思いますので、ここからは実物をお見せします」→実演へ。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この区間の「そうなんだ」：話し方も雰囲気も、相手がこちらに合わせて変えてくる。そして本物の脅威は「断らない声」。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クローン音声を会場スピーカーで再生。※素材は講師本人の声・本人同意で事前作成、生成物には「AI生成」を明示して管理。バックアップ音源必須。第三者の顔・声は使わない。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マホを会場スピーカーへつなぎ、最新AIと生対話。聴衆から予想外のひと言を1つもらう（詐欺の台詞は言わせない）。「もちろん、いま話したのは安全なAIで、この“合わせる力”自体は良い技術です。ただ、同じ力が悪用されれば——昔は詐欺師が話術で一人ずつやっていたことを、同時に何人相手でもこなせてしまいま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なりすまし依頼→拒否のデモ。「いい断り方ですよね。でも安心はできません。同じ技術は世界に無数にあり、安全装置のないものも出回ります」。※通信不良に備え録音・録画のバックアップ。ライブが押したら拒否デモは録画30秒版に切り替え（打ち切り条件を事前に決める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「——最初の問いに、答えを出します」→結論へ。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板書した紙を再び見せながら。「最初に集めました——声、話し方、内容、雰囲気、番号。今日、全部裏切られましたね。だったら、手がかりで見分けること自体をやめればいい」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この“一度切って、自分で調べてかけ直す”は、番号が本物でも、声が本物でも、相手がAIでも人間でも——効きます」。※射程の明示：この主手順が守るのは「電話・ビデオ通話でのなりすまし」。投資話・偽サイト・長期の関係構築型詐欺は別の備えが要る、と一言添える。「本物の警察なら、確認のためにいったん切っても、不利益はありません」。ここで第1部の「誰にも言うな」の伏線を回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スライドの5項目を一言ずつ指差しながら。「今日の話を、ひと息で巻き戻します。（中略）——全部、一本の線でつながっています」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でも思い出してください。あのとき会場に流れた『そんなはずはない』という空気。あれが“ばらまきの嘘”への完璧な勝ち方です。これから来るのは、笑い飛ばせない、あなた専用の嘘。だからこそ、笑う代わりに——一度切って、自分で調べて、かけ直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質疑応答用に最後に表示したままにする。数値はスライド化の直前に最新の一次資料で再確認。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03120"/>
            <a:ext cx="10820095" cy="1645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48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巧妙化するAI詐欺から身を守る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86200"/>
            <a:ext cx="10820095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800" b="0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― フィンテック企業が解説する自己防衛術 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577840"/>
            <a:ext cx="10820095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（会社名・講師名・日付）</a:t>
            </a:r>
          </a:p>
        </p:txBody>
      </p:sp>
      <p:sp>
        <p:nvSpPr>
          <p:cNvPr id="5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私たちは「お金が動く現場」にいます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4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・皆さんのお金が安全に動く仕組みを、毎日支えている会社です</a:t>
            </a:r>
          </a:p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・FXなどの金融口座の開設は、スマホで完結する「電子身分証明（eKYC）」が当たり前に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・その顔認証を、ディープフェイクの顔で突破しようとするケースが増えてきている</a:t>
            </a:r>
          </a:p>
        </p:txBody>
      </p:sp>
      <p:sp>
        <p:nvSpPr>
          <p:cNvPr id="5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6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0 自己紹介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11185855" cy="365759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このMTGの目的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983479"/>
            <a:ext cx="10820095" cy="1005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近い未来に訪れる「AI詐欺」から身を守る方法を、持って帰っていただくこと</a:t>
            </a:r>
          </a:p>
        </p:txBody>
      </p:sp>
      <p:sp>
        <p:nvSpPr>
          <p:cNvPr id="4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0 自己紹介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4572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第1部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820095" cy="1554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電子詐欺の進化史</a:t>
            </a:r>
          </a:p>
        </p:txBody>
      </p:sp>
      <p:sp>
        <p:nvSpPr>
          <p:cNvPr id="5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9AA3B2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6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Yu Gothic"/>
                <a:ea typeface="Yu Gothic"/>
                <a:cs typeface="Yu Gothic"/>
              </a:rPr>
              <a:t>1 第1部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11185855" cy="4800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祝・ご当選</a:t>
            </a:r>
          </a:p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皆さま全員に 1億円</a:t>
            </a:r>
          </a:p>
        </p:txBody>
      </p:sp>
      <p:sp>
        <p:nvSpPr>
          <p:cNvPr id="3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 第1部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昔よくあった詐欺メール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4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・「おめでとうございます！あなたのメールアドレスが 1等3億円 に当選しました」</a:t>
            </a:r>
          </a:p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・「有料サイトの 未納料金 が発生しています。本日中にご連絡がない場合、法的手続きに移行します」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・「余命わずかな資産家です。全財産をあなたにお譲りしたい のでご連絡ください」</a:t>
            </a:r>
          </a:p>
        </p:txBody>
      </p:sp>
      <p:sp>
        <p:nvSpPr>
          <p:cNvPr id="5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6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 第1部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11185855" cy="4800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なぜプロの詐欺師は、</a:t>
            </a:r>
          </a:p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誰が見てもバレる嘘を</a:t>
            </a:r>
          </a:p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何十年も送り続けたのか？</a:t>
            </a:r>
          </a:p>
        </p:txBody>
      </p:sp>
      <p:sp>
        <p:nvSpPr>
          <p:cNvPr id="3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4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 第1部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バレバレの嘘は「選別装置」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852160"/>
            <a:ext cx="10820095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出典：Microsoft Research（C. Herley, 2012）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41330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・詐欺で一番コストがかかるのは、その後の「人間によるやり取り」</a:t>
            </a:r>
          </a:p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・疑う人は、最初の一通で外れてくれる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・「それでも信じる、いちばん疑わない人」だけが返信してくる</a:t>
            </a:r>
          </a:p>
        </p:txBody>
      </p:sp>
      <p:sp>
        <p:nvSpPr>
          <p:cNvPr id="6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7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 第1部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36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「金持ちを助けて」——この商売、200年前から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852160"/>
            <a:ext cx="10820095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出典：The New York Times（1898年3月20日）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31912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04800" indent="-304800">
              <a:lnSpc>
                <a:spcPct val="135000"/>
              </a:lnSpc>
              <a:spcAft>
                <a:spcPts val="839"/>
              </a:spcAft>
            </a:pPr>
            <a:r>
              <a:rPr sz="24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・手口を一言でいうと——「囚われたお金持ちを助けてくれたら、財産の3分の1を差し上げます」</a:t>
            </a:r>
          </a:p>
          <a:p>
            <a:pPr marL="304800" indent="-304800">
              <a:lnSpc>
                <a:spcPct val="135000"/>
              </a:lnSpc>
              <a:spcAft>
                <a:spcPts val="839"/>
              </a:spcAft>
            </a:pPr>
            <a:r>
              <a:rPr sz="24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・19世紀、スペインから欧米の資産家に届いた手紙。のちに「スペインの囚人」と呼ばれる古典詐欺</a:t>
            </a:r>
          </a:p>
          <a:p>
            <a:pPr marL="304800" indent="-304800">
              <a:lnSpc>
                <a:spcPct val="135000"/>
              </a:lnSpc>
              <a:spcAft>
                <a:spcPts val="839"/>
              </a:spcAft>
            </a:pPr>
            <a:r>
              <a:rPr sz="24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・お金を送っても、囚人は出てこない。「手続きに新たな問題が起きた」と追加請求だけが届く</a:t>
            </a:r>
          </a:p>
          <a:p>
            <a:pPr marL="304800" indent="-304800">
              <a:lnSpc>
                <a:spcPct val="135000"/>
              </a:lnSpc>
            </a:pPr>
            <a:r>
              <a:rPr sz="24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・1898年のニューヨーク・タイムズが「蘇った古い詐欺」と報道——当時すでに古典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001768"/>
            <a:ext cx="10820095" cy="777240"/>
          </a:xfrm>
          <a:prstGeom prst="roundRect">
            <a:avLst>
              <a:gd name="adj" fmla="val 16000"/>
            </a:avLst>
          </a:prstGeom>
          <a:solidFill>
            <a:srgbClr val="F3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>
            <a:noAutofit/>
          </a:bodyPr>
          <a:lstStyle/>
          <a:p>
            <a:pPr algn="ctr"/>
            <a:r>
              <a:rPr sz="26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手紙の決まり文句：「このことは、誰にも言わないでください」</a:t>
            </a:r>
          </a:p>
        </p:txBody>
      </p:sp>
      <p:sp>
        <p:nvSpPr>
          <p:cNvPr id="7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8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 第1部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11185855" cy="4800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「自分は引っかからない」</a:t>
            </a:r>
          </a:p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——それは正しかった。</a:t>
            </a:r>
          </a:p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今までは。</a:t>
            </a:r>
          </a:p>
        </p:txBody>
      </p:sp>
      <p:sp>
        <p:nvSpPr>
          <p:cNvPr id="3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4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 第1部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AI時代：ばらまきから、あなた専用へ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34015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・大人数に同じ嘘 ＝ 安い ／ 一人専用の嘘 ＝ 高い（この経済学が詐欺の形を200年決めてきた）</a:t>
            </a:r>
          </a:p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・AIが「高い部分」——調べる・本物らしい文章や声を作る・応対する——を丸ごと肩代わり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・ばらまきの安さで、狙い撃ちの精度が手に入る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16000"/>
            </a:avLst>
          </a:prstGeom>
          <a:solidFill>
            <a:srgbClr val="F3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>
            <a:noAutofit/>
          </a:bodyPr>
          <a:lstStyle/>
          <a:p>
            <a:pPr algn="ctr"/>
            <a:r>
              <a:rPr sz="26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バカな嘘は、もう来ません。あなた専用の、賢い嘘が来ます</a:t>
            </a:r>
          </a:p>
        </p:txBody>
      </p:sp>
      <p:sp>
        <p:nvSpPr>
          <p:cNvPr id="6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7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 第1部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38億円のニセ会議（香港・実話）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852160"/>
            <a:ext cx="10820095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出典：CNN・香港警察発表（被害約38億円）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31912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・財務責任者から「極秘案件」のメール——彼は疑った。プロだから当然</a:t>
            </a:r>
          </a:p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・ビデオ会議には、見慣れた財務責任者と同僚たち。顔も声もいつも通り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・15回に分けて送金——会議にいたのは、本人以外すべてニセモノ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001768"/>
            <a:ext cx="10820095" cy="777240"/>
          </a:xfrm>
          <a:prstGeom prst="roundRect">
            <a:avLst>
              <a:gd name="adj" fmla="val 16000"/>
            </a:avLst>
          </a:prstGeom>
          <a:solidFill>
            <a:srgbClr val="F3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>
            <a:noAutofit/>
          </a:bodyPr>
          <a:lstStyle/>
          <a:p>
            <a:pPr algn="ctr"/>
            <a:r>
              <a:rPr sz="26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騙されたのは、うっかり者ではない。一度疑ったプロ</a:t>
            </a:r>
          </a:p>
        </p:txBody>
      </p:sp>
      <p:sp>
        <p:nvSpPr>
          <p:cNvPr id="7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8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 第1部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36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顔と声の「材料」は、知らないうちに外にある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4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・映像の顔は、その場で別人に変えられる段階に来ている</a:t>
            </a:r>
          </a:p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・声は、ほんの少しの音声から本人そっくりの声が作れる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・他人が投稿した動画・会議の録画・留守番電話——自分が用心しても材料は残る</a:t>
            </a:r>
          </a:p>
        </p:txBody>
      </p:sp>
      <p:sp>
        <p:nvSpPr>
          <p:cNvPr id="5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6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 第1部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11185855" cy="4800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では、いまの日本は</a:t>
            </a:r>
          </a:p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この進化のどこにいるのか？</a:t>
            </a:r>
          </a:p>
        </p:txBody>
      </p:sp>
      <p:sp>
        <p:nvSpPr>
          <p:cNvPr id="3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4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 第1部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4572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第2部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820095" cy="1554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では、いまの日本は？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77639"/>
            <a:ext cx="10820095" cy="8686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0">
                <a:solidFill>
                  <a:srgbClr val="BCBDC0"/>
                </a:solidFill>
                <a:latin typeface="Yu Gothic"/>
                <a:ea typeface="Yu Gothic"/>
                <a:cs typeface="Yu Gothic"/>
              </a:rPr>
              <a:t>― 答え合わせ ―</a:t>
            </a:r>
          </a:p>
        </p:txBody>
      </p:sp>
      <p:sp>
        <p:nvSpPr>
          <p:cNvPr id="6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9AA3B2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7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Yu Gothic"/>
                <a:ea typeface="Yu Gothic"/>
                <a:cs typeface="Yu Gothic"/>
              </a:rPr>
              <a:t>2 第2部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36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「AI詐欺のニュース、あまり聞かないですよね」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4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・「AIの声にだまされた」というニュース——聞いたことはありますか？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・……あまり聞かないですよね</a:t>
            </a:r>
          </a:p>
        </p:txBody>
      </p:sp>
      <p:sp>
        <p:nvSpPr>
          <p:cNvPr id="5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6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 第2部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実は、あるにはあります——ただし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852160"/>
            <a:ext cx="10820095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出典：警察庁統計・報道／毎日新聞（2026年1月29日）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41330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・いま一番多いのは「有名人のニセ動画」——投資に誘う偽広告。SNS型投資詐欺の被害は 1,200億円超（2025年・前年比+46.3%）</a:t>
            </a:r>
          </a:p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・続くのは、AIの台本＋警察官のニセ映像の海外拠点グループ（2026年1月摘発・被害約1,900万円）——このくらい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・「家族の声をまねた詐欺」が日本で確認された報道はまだない（統計に「AI詐欺」の欄もない）</a:t>
            </a:r>
          </a:p>
        </p:txBody>
      </p:sp>
      <p:sp>
        <p:nvSpPr>
          <p:cNvPr id="6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7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 第2部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圧倒的に多いのは、警察の偽番号。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852160"/>
            <a:ext cx="10820095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出典：警察庁 令和7年統計（講演直前に最新値を再確認）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38928"/>
            <a:ext cx="10820095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A83B3B"/>
                </a:solidFill>
                <a:latin typeface="Yu Gothic"/>
                <a:ea typeface="Yu Gothic"/>
                <a:cs typeface="Yu Gothic"/>
              </a:rPr>
              <a:t>警察署の番号表示は、本人確認になりません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57172"/>
            <a:ext cx="3383280" cy="646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2025年 詐欺全体の被害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757172"/>
            <a:ext cx="7178040" cy="646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0000"/>
              </a:lnSpc>
            </a:pPr>
            <a:r>
              <a:rPr sz="28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約3,257億円</a:t>
            </a:r>
            <a:r>
              <a:rPr sz="28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（過去最悪）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421636"/>
            <a:ext cx="10820095" cy="12801"/>
          </a:xfrm>
          <a:prstGeom prst="rect">
            <a:avLst/>
          </a:prstGeom>
          <a:solidFill>
            <a:srgbClr val="E6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86228"/>
            <a:ext cx="3383280" cy="646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うち特殊詐欺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586228"/>
            <a:ext cx="7178040" cy="646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0000"/>
              </a:lnSpc>
            </a:pPr>
            <a:r>
              <a:rPr sz="28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約1,423億円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50691"/>
            <a:ext cx="10820095" cy="12801"/>
          </a:xfrm>
          <a:prstGeom prst="rect">
            <a:avLst/>
          </a:prstGeom>
          <a:solidFill>
            <a:srgbClr val="E6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15284"/>
            <a:ext cx="3383280" cy="646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その約7割＝約1,005億円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415284"/>
            <a:ext cx="7178040" cy="646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0000"/>
              </a:lnSpc>
            </a:pPr>
            <a:r>
              <a:rPr sz="28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「ニセ警察詐欺」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079747"/>
            <a:ext cx="10820095" cy="12801"/>
          </a:xfrm>
          <a:prstGeom prst="rect">
            <a:avLst/>
          </a:prstGeom>
          <a:solidFill>
            <a:srgbClr val="E6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44340"/>
            <a:ext cx="3383280" cy="646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犯行電話の最多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244340"/>
            <a:ext cx="7178040" cy="646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20000"/>
              </a:lnSpc>
            </a:pPr>
            <a:r>
              <a:rPr sz="28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「＋」</a:t>
            </a:r>
            <a:r>
              <a:rPr sz="28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で始まる国際電話・末尾</a:t>
            </a:r>
            <a:r>
              <a:rPr sz="28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「0110」</a:t>
            </a:r>
          </a:p>
        </p:txBody>
      </p:sp>
      <p:sp>
        <p:nvSpPr>
          <p:cNvPr id="17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18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 第2部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ニセ警察も、第1部と同じ構造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34015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・最初は自動音声——何十万件にもばらまく</a:t>
            </a:r>
          </a:p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・信じて操作した人だけが、人間の詐欺師につながる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・「警察」という大胆でバレやすい嘘 ＝ 疑う人を先にふるい落とす選別装置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16000"/>
            </a:avLst>
          </a:prstGeom>
          <a:solidFill>
            <a:srgbClr val="F3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>
            <a:noAutofit/>
          </a:bodyPr>
          <a:lstStyle/>
          <a:p>
            <a:pPr algn="ctr"/>
            <a:r>
              <a:rPr sz="26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いまの日本の主流は、「ばらまいて選別する」商売の完成形</a:t>
            </a:r>
          </a:p>
        </p:txBody>
      </p:sp>
      <p:sp>
        <p:nvSpPr>
          <p:cNvPr id="6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7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 第2部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そして、海外では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852160"/>
            <a:ext cx="10820095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出典：FBI IC3 注意喚起（2024年12月）／FTC 消費者警告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41330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・アメリカでは FBI・FTC が「生成AIを使った詐欺」への警告を公式に発表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・音声クローン詐欺——ごく一般の家庭を狙う相談が、実際に増えている</a:t>
            </a:r>
          </a:p>
        </p:txBody>
      </p:sp>
      <p:sp>
        <p:nvSpPr>
          <p:cNvPr id="6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7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 第2部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11185855" cy="4800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標的は、有名人ではない。</a:t>
            </a:r>
          </a:p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家族の声をまねた</a:t>
            </a:r>
          </a:p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「音声クローン詐欺」</a:t>
            </a:r>
          </a:p>
        </p:txBody>
      </p:sp>
      <p:sp>
        <p:nvSpPr>
          <p:cNvPr id="3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4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 第2部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なぜ、日本は有名人ばかりなのか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4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・差は「材料」——有名人の顔と声は、ネットに無限に転がっている</a:t>
            </a:r>
          </a:p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・一般人のデータはまだ少ない——狙われていないのではなく、後回しなだけ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・AIは数十秒の音声で「本人そっくり」を作れる——この時間差は、必ず埋まる</a:t>
            </a:r>
          </a:p>
        </p:txBody>
      </p:sp>
      <p:sp>
        <p:nvSpPr>
          <p:cNvPr id="5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6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 第2部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11185855" cy="365759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次に来るのは——</a:t>
            </a:r>
          </a:p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番号偽装に、AIが混ざる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983479"/>
            <a:ext cx="10820095" cy="1005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「0110」の表示で信じさせ、本人そっくりの声でとどめを刺す</a:t>
            </a:r>
          </a:p>
        </p:txBody>
      </p:sp>
      <p:sp>
        <p:nvSpPr>
          <p:cNvPr id="4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5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 第2部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4572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実演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820095" cy="1554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「本人らしさ」は作られる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77639"/>
            <a:ext cx="10820095" cy="8686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400" b="0">
                <a:solidFill>
                  <a:srgbClr val="BCBDC0"/>
                </a:solidFill>
                <a:latin typeface="Yu Gothic"/>
                <a:ea typeface="Yu Gothic"/>
                <a:cs typeface="Yu Gothic"/>
              </a:rPr>
              <a:t>クローン音声・ライブAI対話</a:t>
            </a:r>
          </a:p>
        </p:txBody>
      </p:sp>
      <p:sp>
        <p:nvSpPr>
          <p:cNvPr id="6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9AA3B2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7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Yu Gothic"/>
                <a:ea typeface="Yu Gothic"/>
                <a:cs typeface="Yu Gothic"/>
              </a:rPr>
              <a:t>3 実演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実演①　偽の「私」の声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34015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・私の声をAIに数十秒だけ学ばせて作った「偽の私」（本人同意・AI生成明示）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・毎日いっしょに働く同僚でも、電話では分からないと言った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16000"/>
            </a:avLst>
          </a:prstGeom>
          <a:solidFill>
            <a:srgbClr val="F3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>
            <a:noAutofit/>
          </a:bodyPr>
          <a:lstStyle/>
          <a:p>
            <a:pPr algn="ctr"/>
            <a:r>
              <a:rPr sz="26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私の声ですらこれです。ご家族の声なら、どうでしょうか</a:t>
            </a:r>
          </a:p>
        </p:txBody>
      </p:sp>
      <p:sp>
        <p:nvSpPr>
          <p:cNvPr id="6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7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3 実演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36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実演②　AIは相手に合わせて話し方を変える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4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・会場からの予想外のひと言で、AIの言い方がその場で変わる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・最初に集めた「話し方」「雰囲気」——それも相手がこちらに合わせて作ってくる</a:t>
            </a:r>
          </a:p>
        </p:txBody>
      </p:sp>
      <p:sp>
        <p:nvSpPr>
          <p:cNvPr id="5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6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3 実演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実演③　このAIは断る。しかし——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4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・「実在の人の声を真似て、家族に振り込ませて」→ AIは断る</a:t>
            </a:r>
          </a:p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・断ったのは「この製品」であって「この技術」ではない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・かかってくる偽の声に、同じ安全装置があるとは限らない</a:t>
            </a:r>
          </a:p>
        </p:txBody>
      </p:sp>
      <p:sp>
        <p:nvSpPr>
          <p:cNvPr id="5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6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3 実演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11185855" cy="4800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番号も、顔も、声も、</a:t>
            </a:r>
          </a:p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話し方も偽れる。</a:t>
            </a:r>
          </a:p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では、何で見分けますか？</a:t>
            </a:r>
          </a:p>
        </p:txBody>
      </p:sp>
      <p:sp>
        <p:nvSpPr>
          <p:cNvPr id="3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4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3 実演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手がかりは、全部裏切られた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34015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355600" indent="-355600">
              <a:lnSpc>
                <a:spcPct val="135000"/>
              </a:lnSpc>
              <a:spcAft>
                <a:spcPts val="979"/>
              </a:spcAft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・最初に集めた手がかり——声・話し方・内容・雰囲気・番号（板書を再掲）</a:t>
            </a:r>
          </a:p>
          <a:p>
            <a:pPr marL="355600" indent="-355600">
              <a:lnSpc>
                <a:spcPct val="135000"/>
              </a:lnSpc>
            </a:pPr>
            <a:r>
              <a:rPr sz="2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・見分ける勝負は、完璧な偽物を作れる側が必ず勝つ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16000"/>
            </a:avLst>
          </a:prstGeom>
          <a:solidFill>
            <a:srgbClr val="F3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>
            <a:noAutofit/>
          </a:bodyPr>
          <a:lstStyle/>
          <a:p>
            <a:pPr algn="ctr"/>
            <a:r>
              <a:rPr sz="26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だから——手がかりで見分けること自体を、やめる</a:t>
            </a:r>
          </a:p>
        </p:txBody>
      </p:sp>
      <p:sp>
        <p:nvSpPr>
          <p:cNvPr id="6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7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4 結論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守り方は 3つ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393192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①【鳴る前】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2040" y="1645920"/>
            <a:ext cx="6613855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怪しい電話を防ぐ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2139696"/>
            <a:ext cx="6613855" cy="6456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固定電話は国際電話の利用休止／スマホは迷惑電話対策アプリ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33827"/>
            <a:ext cx="393192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②【警察・お金の話が出たら】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933827"/>
            <a:ext cx="6613855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番号や映像を信じず、切る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427603"/>
            <a:ext cx="6613855" cy="33197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「誰にも言うな」「ATM」「ギフトカード」は即切りの合図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08044"/>
            <a:ext cx="393192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③【切ったあと】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908044"/>
            <a:ext cx="6613855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自分で調べた番号で確かめる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4401820"/>
            <a:ext cx="6613855" cy="6456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着信履歴は使わない／警察相談は「#9110」／家族はもともと知っている番号へ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12080"/>
            <a:ext cx="10820095" cy="777240"/>
          </a:xfrm>
          <a:prstGeom prst="roundRect">
            <a:avLst>
              <a:gd name="adj" fmla="val 16000"/>
            </a:avLst>
          </a:prstGeom>
          <a:solidFill>
            <a:srgbClr val="F3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>
            <a:noAutofit/>
          </a:bodyPr>
          <a:lstStyle/>
          <a:p>
            <a:pPr algn="ctr"/>
            <a:r>
              <a:rPr sz="26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電話では、その場で送金せず、口座や暗証番号も伝えない</a:t>
            </a:r>
          </a:p>
        </p:txBody>
      </p:sp>
      <p:sp>
        <p:nvSpPr>
          <p:cNvPr id="14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15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4 結論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今日のまとめ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28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45920"/>
            <a:ext cx="9997135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バレバレの嘘は、疑わない人を選ぶ「フィルタ」だった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88870"/>
            <a:ext cx="73152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28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88870"/>
            <a:ext cx="9997135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AIがその選別を不要にし、疑う人も突破される時代が始まった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89020"/>
            <a:ext cx="73152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28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589020"/>
            <a:ext cx="9997135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いまの日本の主役は、AIではなく「番号」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31970"/>
            <a:ext cx="73152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28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331970"/>
            <a:ext cx="9997135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次は、番号偽装にAIが混ざってくる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73152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28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5074920"/>
            <a:ext cx="9997135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だから——見分けるのをやめて、一度切って、自分で調べてかけ直す</a:t>
            </a:r>
          </a:p>
        </p:txBody>
      </p:sp>
      <p:sp>
        <p:nvSpPr>
          <p:cNvPr id="14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sp>
        <p:nvSpPr>
          <p:cNvPr id="15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4 結論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11185855" cy="365759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冒頭の1億円は、</a:t>
            </a:r>
          </a:p>
          <a:p>
            <a:pPr algn="ctr">
              <a:lnSpc>
                <a:spcPct val="128000"/>
              </a:lnSpc>
            </a:pPr>
            <a:r>
              <a:rPr sz="5400" b="1">
                <a:solidFill>
                  <a:srgbClr val="20242C"/>
                </a:solidFill>
                <a:latin typeface="Yu Mincho"/>
                <a:ea typeface="Yu Mincho"/>
                <a:cs typeface="Yu Mincho"/>
              </a:rPr>
              <a:t>あらためて、差し上げられません。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983479"/>
            <a:ext cx="10820095" cy="1005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帰ったらご家族に「1億円をもらい損ねた話」を——笑い話が、そのまま家族を守る話になります</a:t>
            </a:r>
          </a:p>
        </p:txBody>
      </p:sp>
      <p:sp>
        <p:nvSpPr>
          <p:cNvPr id="4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sp>
        <p:nvSpPr>
          <p:cNvPr id="5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4 結論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96012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/>
            <a:r>
              <a:rPr sz="4000" b="1">
                <a:solidFill>
                  <a:srgbClr val="B9791F"/>
                </a:solidFill>
                <a:latin typeface="Yu Gothic"/>
                <a:ea typeface="Yu Gothic"/>
                <a:cs typeface="Yu Gothic"/>
              </a:rPr>
              <a:t>主な出典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63040"/>
            <a:ext cx="2377440" cy="50292"/>
          </a:xfrm>
          <a:prstGeom prst="rect">
            <a:avLst/>
          </a:prstGeom>
          <a:solidFill>
            <a:srgbClr val="B9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43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228600" indent="-228600">
              <a:lnSpc>
                <a:spcPct val="130000"/>
              </a:lnSpc>
              <a:spcAft>
                <a:spcPts val="810"/>
              </a:spcAft>
            </a:pPr>
            <a:r>
              <a:rPr sz="1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・警察庁「令和7年における特殊詐欺及びSNS型投資・ロマンス詐欺の認知・検挙状況等について」</a:t>
            </a:r>
          </a:p>
          <a:p>
            <a:pPr marL="228600" indent="-228600">
              <a:lnSpc>
                <a:spcPct val="130000"/>
              </a:lnSpc>
              <a:spcAft>
                <a:spcPts val="810"/>
              </a:spcAft>
            </a:pPr>
            <a:r>
              <a:rPr sz="1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・Cormac Herley (Microsoft Research)「Why do Nigerian Scammers Say They are from Nigeria?」WEIS 2012</a:t>
            </a:r>
          </a:p>
          <a:p>
            <a:pPr marL="228600" indent="-228600">
              <a:lnSpc>
                <a:spcPct val="130000"/>
              </a:lnSpc>
              <a:spcAft>
                <a:spcPts val="810"/>
              </a:spcAft>
            </a:pPr>
            <a:r>
              <a:rPr sz="1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・The New York Times「An Old Swindle Revived」1898年3月20日</a:t>
            </a:r>
          </a:p>
          <a:p>
            <a:pPr marL="228600" indent="-228600">
              <a:lnSpc>
                <a:spcPct val="130000"/>
              </a:lnSpc>
              <a:spcAft>
                <a:spcPts val="810"/>
              </a:spcAft>
            </a:pPr>
            <a:r>
              <a:rPr sz="1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・FBI IC3  PSA（生成AI悪用詐欺への公式警告・2024年12月）／FTC 消費者警告</a:t>
            </a:r>
          </a:p>
          <a:p>
            <a:pPr marL="228600" indent="-228600">
              <a:lnSpc>
                <a:spcPct val="130000"/>
              </a:lnSpc>
              <a:spcAft>
                <a:spcPts val="810"/>
              </a:spcAft>
            </a:pPr>
            <a:r>
              <a:rPr sz="1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・毎日新聞「AIで『ニセ警察詐欺』か」2026年1月29日（AI台本＋警察官のニセ映像の摘発例）／KAB「被害1200億円超…ディープフェイク動画による詐欺広告」</a:t>
            </a:r>
          </a:p>
          <a:p>
            <a:pPr marL="228600" indent="-228600">
              <a:lnSpc>
                <a:spcPct val="130000"/>
              </a:lnSpc>
              <a:spcAft>
                <a:spcPts val="810"/>
              </a:spcAft>
            </a:pPr>
            <a:r>
              <a:rPr sz="1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・CNN「Finance worker pays out $25 million after video call with deepfake 'chief financial officer'」</a:t>
            </a:r>
          </a:p>
          <a:p>
            <a:pPr marL="228600" indent="-228600">
              <a:lnSpc>
                <a:spcPct val="130000"/>
              </a:lnSpc>
            </a:pPr>
            <a:r>
              <a:rPr sz="1800" b="0">
                <a:solidFill>
                  <a:srgbClr val="20242C"/>
                </a:solidFill>
                <a:latin typeface="Yu Gothic"/>
                <a:ea typeface="Yu Gothic"/>
                <a:cs typeface="Yu Gothic"/>
              </a:rPr>
              <a:t>・警察庁 SOS47「ニセ警察詐欺に注意！」「ニセ警察官とのビデオ通話」／政府広報オンライン</a:t>
            </a:r>
          </a:p>
        </p:txBody>
      </p:sp>
      <p:sp>
        <p:nvSpPr>
          <p:cNvPr id="5" name="meta:pageno"/>
          <p:cNvSpPr txBox="1"/>
          <p:nvPr/>
        </p:nvSpPr>
        <p:spPr>
          <a:xfrm>
            <a:off x="10408615" y="6309360"/>
            <a:ext cx="109728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  <p:sp>
        <p:nvSpPr>
          <p:cNvPr id="6" name="meta:part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5C6472"/>
                </a:solidFill>
                <a:latin typeface="Yu Gothic"/>
                <a:ea typeface="Yu Gothic"/>
                <a:cs typeface="Yu Gothic"/>
              </a:rPr>
              <a:t>付録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